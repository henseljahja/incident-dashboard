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6560" r:id="rId2"/>
    <p:sldId id="6561" r:id="rId3"/>
    <p:sldId id="6563" r:id="rId4"/>
    <p:sldId id="6564" r:id="rId5"/>
    <p:sldId id="6562" r:id="rId6"/>
    <p:sldId id="6557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42"/>
    <p:restoredTop sz="94690"/>
  </p:normalViewPr>
  <p:slideViewPr>
    <p:cSldViewPr snapToGrid="0">
      <p:cViewPr varScale="1">
        <p:scale>
          <a:sx n="75" d="100"/>
          <a:sy n="75" d="100"/>
        </p:scale>
        <p:origin x="806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7A398A-19A2-BF4A-8055-DDE0B70CD908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4C5A2D-A326-BE4F-B388-01D571DFEC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1954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7BBC2-66E7-5B62-DEF4-FD34979205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7A7BB1-7EF2-DD0D-5CFF-EAA4AB545C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677AD-4B7E-1C03-6A53-64D9EA354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2EE54C-7F41-9F6D-00AF-CE5D6EC13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BDE71-C901-736F-E376-1F2286DD8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775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28BC2-1E33-8FB1-786A-BC65234565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D81E8D-B922-CE94-8F99-B53F9EE96B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FB01E7-7CA7-D367-6B4F-1BDBD1789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1CAD0-0CFC-F60A-B04B-00DD19691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0F11ED-32DB-548D-0B4B-3F84478E5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094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B38FA-0ACE-DF19-4175-35E962B1F6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9D0A71-4573-8D16-D061-8C5FA0B77B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AAEB4-7D7C-4280-5875-D8F99B834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AD4234-B6A7-14BC-E08C-068DE122B3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F46E8D-4B3E-F5F0-D147-262C275DF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09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5369C-436C-E46A-899B-7592D737A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D313FF-CDFE-2FF5-3734-B7EFEE97D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2FFAB0E-3BB2-C083-5F74-31EBDC3501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640C2-F894-05FA-C8F7-28A12E964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DA827F-78D2-02E8-EC5F-6442B854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FFC6F1-DA93-B4AE-3443-564A8AAA6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59225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168CAF-DCFC-3BA5-3693-6EE62F231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46B37-2EA0-B684-3319-1712126370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18B16-BBD7-5587-3115-B0C69B7B9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EC345AD-AA93-F8BB-929E-2CE9E24011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B2219C-7750-D3E6-786E-93EDBEE5EC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167921-74D9-8769-9ED1-1B538FBD27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F0BD998-6493-A2B0-4E0A-4DC7E48828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C81C509-40E9-9B97-B95E-C5FBCFDDF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23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B2ECB-547D-727B-75F1-F403FC9DD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843CA3-E87B-19BF-3603-D20B24AB8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B291126-1C28-8CAC-83BF-31F4D97D9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983F4C-0FCE-817B-7013-960C8A5D2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06433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87B0F09-C227-739C-4D23-5E9E40B68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2F300AA-FD3F-650B-6809-77AC9DEDA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78F6A0-D088-6D90-37AF-39FC918B6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5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273E7-398A-BB9E-2BFC-EB44B98A8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556C02-BDCE-F18D-AB8D-A1785FFAF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B6ABD-A574-F0FD-50D3-6E9BEF3320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FBB53D-8CB7-2753-FCB5-FE02D8B60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0C7517-DA54-C528-DA43-2A954B855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926A09-8E26-A06B-C9D7-E994DBCAB2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645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79375-7AC7-3ECE-F978-A7DA94D4B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78BCF2-7CD3-39C6-FC55-11B154A5835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06FDB79-9492-9A26-F125-35109E2ABD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80CA8A-BAB4-E90A-AC8B-DA96DA9F53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08F2B0-636F-C591-EAF9-CBAA40A781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E1F0B2-55A2-C157-CC9E-5CF887E7C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91371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447E-C201-94D1-E455-E3F30CDD2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6D8535-B8C3-359E-CF96-F0F2D96F0E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5B817A-DA52-4227-E947-DB6C0CE3EE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1B29B-0C32-16B2-4954-9DDFB20A8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6AC135-F0C4-D09F-5FAC-1CEEE9EAA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104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FA7CAF-E8E1-1C15-6301-926D9A44E8B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B6A3779-0FC7-FBCD-2DE2-808C305B85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FD5083-D9C8-B003-6A11-FD4BD4B4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B7B6AF-D2F2-A079-6344-7C0CC51A9D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8AEC87-2D84-CC7D-995B-3FC86EBFA6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8519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15">
            <a:extLst>
              <a:ext uri="{FF2B5EF4-FFF2-40B4-BE49-F238E27FC236}">
                <a16:creationId xmlns:a16="http://schemas.microsoft.com/office/drawing/2014/main" id="{223E3364-CA51-4AE4-926E-0227CA4AF8EC}"/>
              </a:ext>
            </a:extLst>
          </p:cNvPr>
          <p:cNvSpPr/>
          <p:nvPr userDrawn="1"/>
        </p:nvSpPr>
        <p:spPr>
          <a:xfrm>
            <a:off x="11512551" y="-217488"/>
            <a:ext cx="420688" cy="898526"/>
          </a:xfrm>
          <a:prstGeom prst="roundRect">
            <a:avLst/>
          </a:prstGeom>
          <a:solidFill>
            <a:srgbClr val="007F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2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D940D2-00DE-49E9-963C-BFE85281DC70}"/>
              </a:ext>
            </a:extLst>
          </p:cNvPr>
          <p:cNvSpPr txBox="1"/>
          <p:nvPr userDrawn="1"/>
        </p:nvSpPr>
        <p:spPr>
          <a:xfrm>
            <a:off x="11512551" y="134939"/>
            <a:ext cx="420688" cy="390526"/>
          </a:xfrm>
          <a:prstGeom prst="rect">
            <a:avLst/>
          </a:prstGeom>
          <a:noFill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 eaLnBrk="1" hangingPunct="1"/>
            <a:fld id="{A0AE5731-115F-4A39-AE1C-3418D394689A}" type="slidenum">
              <a:rPr lang="en-US" altLang="en-US" sz="1620">
                <a:solidFill>
                  <a:schemeClr val="bg1"/>
                </a:solidFill>
                <a:latin typeface="Calibri" panose="020F0502020204030204" pitchFamily="34" charset="0"/>
              </a:rPr>
              <a:pPr algn="ctr" eaLnBrk="1" hangingPunct="1"/>
              <a:t>‹#›</a:t>
            </a:fld>
            <a:endParaRPr lang="en-US" altLang="en-US" sz="1620">
              <a:solidFill>
                <a:schemeClr val="bg1"/>
              </a:solidFill>
              <a:latin typeface="Calibri" panose="020F050202020403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A33E641-E898-4EBB-84DE-9D69BB7B37BC}"/>
              </a:ext>
            </a:extLst>
          </p:cNvPr>
          <p:cNvSpPr/>
          <p:nvPr userDrawn="1"/>
        </p:nvSpPr>
        <p:spPr>
          <a:xfrm flipV="1">
            <a:off x="0" y="6700838"/>
            <a:ext cx="12192000" cy="157162"/>
          </a:xfrm>
          <a:prstGeom prst="rect">
            <a:avLst/>
          </a:prstGeom>
          <a:gradFill flip="none" rotWithShape="1">
            <a:gsLst>
              <a:gs pos="0">
                <a:srgbClr val="0094C8"/>
              </a:gs>
              <a:gs pos="100000">
                <a:schemeClr val="tx1">
                  <a:lumMod val="50000"/>
                  <a:lumOff val="5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GB" sz="1620"/>
          </a:p>
        </p:txBody>
      </p:sp>
      <p:pic>
        <p:nvPicPr>
          <p:cNvPr id="6" name="Picture 9">
            <a:extLst>
              <a:ext uri="{FF2B5EF4-FFF2-40B4-BE49-F238E27FC236}">
                <a16:creationId xmlns:a16="http://schemas.microsoft.com/office/drawing/2014/main" id="{0020347B-7DE3-4922-8E7B-412629F5528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" y="114300"/>
            <a:ext cx="908051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197031"/>
            <a:ext cx="10064207" cy="483394"/>
          </a:xfrm>
        </p:spPr>
        <p:txBody>
          <a:bodyPr anchor="t">
            <a:normAutofit/>
          </a:bodyPr>
          <a:lstStyle>
            <a:lvl1pPr>
              <a:defRPr sz="216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7090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FDD07A-FC0C-2C96-358B-169ED172A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0B8380B-5BFF-03D9-88A5-DCFB27B52C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0D4F77-C9F9-2A38-7CF9-D07097AE312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14B191-63D5-C84F-9DFB-A9C784A8CBF2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660BB4-E760-26D6-7E89-81E744D4DC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EFCC31-4593-95F1-7C4D-5813C76C0A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5900B87-8CC6-9A4B-A16F-F84D9C6A885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9999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Title 1">
            <a:extLst>
              <a:ext uri="{FF2B5EF4-FFF2-40B4-BE49-F238E27FC236}">
                <a16:creationId xmlns:a16="http://schemas.microsoft.com/office/drawing/2014/main" id="{48971D61-6633-C752-1BBD-D4AB152F7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197031"/>
            <a:ext cx="10064207" cy="483394"/>
          </a:xfrm>
        </p:spPr>
        <p:txBody>
          <a:bodyPr/>
          <a:lstStyle/>
          <a:p>
            <a:r>
              <a:rPr lang="en-ID" b="1" dirty="0"/>
              <a:t>Dashboard Incident Management (Incident, Problem &amp; SR Patching)</a:t>
            </a:r>
          </a:p>
        </p:txBody>
      </p:sp>
      <p:sp>
        <p:nvSpPr>
          <p:cNvPr id="319" name="TextBox 318">
            <a:extLst>
              <a:ext uri="{FF2B5EF4-FFF2-40B4-BE49-F238E27FC236}">
                <a16:creationId xmlns:a16="http://schemas.microsoft.com/office/drawing/2014/main" id="{3357977E-F180-841A-35B6-F027BFC1DDAB}"/>
              </a:ext>
            </a:extLst>
          </p:cNvPr>
          <p:cNvSpPr txBox="1"/>
          <p:nvPr/>
        </p:nvSpPr>
        <p:spPr>
          <a:xfrm>
            <a:off x="319312" y="964406"/>
            <a:ext cx="76345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Summary</a:t>
            </a:r>
          </a:p>
          <a:p>
            <a:pPr marL="342900" indent="-342900">
              <a:buAutoNum type="arabicPeriod"/>
            </a:pPr>
            <a:r>
              <a:rPr lang="en-ID" dirty="0"/>
              <a:t>Total case (</a:t>
            </a:r>
            <a:r>
              <a:rPr lang="en-ID" dirty="0" err="1"/>
              <a:t>hari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/</a:t>
            </a:r>
            <a:r>
              <a:rPr lang="en-ID" dirty="0" err="1"/>
              <a:t>bulan</a:t>
            </a:r>
            <a:r>
              <a:rPr lang="en-ID" dirty="0"/>
              <a:t> </a:t>
            </a:r>
            <a:r>
              <a:rPr lang="en-ID" dirty="0" err="1"/>
              <a:t>ini</a:t>
            </a:r>
            <a:r>
              <a:rPr lang="en-ID" dirty="0"/>
              <a:t>) </a:t>
            </a:r>
          </a:p>
          <a:p>
            <a:pPr marL="342900" indent="-342900">
              <a:buAutoNum type="arabicPeriod"/>
            </a:pPr>
            <a:r>
              <a:rPr lang="en-ID" dirty="0"/>
              <a:t>Status case (Open, In Progress, Resolved, Closed)</a:t>
            </a:r>
          </a:p>
          <a:p>
            <a:pPr marL="342900" indent="-342900">
              <a:buFontTx/>
              <a:buAutoNum type="arabicPeriod"/>
            </a:pPr>
            <a:r>
              <a:rPr lang="en-ID" dirty="0" err="1"/>
              <a:t>Prioritas</a:t>
            </a:r>
            <a:r>
              <a:rPr lang="en-ID" dirty="0"/>
              <a:t> case (Critical, High, Medium, Low) </a:t>
            </a:r>
          </a:p>
          <a:p>
            <a:pPr marL="342900" indent="-342900">
              <a:buAutoNum type="arabicPeriod"/>
            </a:pPr>
            <a:r>
              <a:rPr lang="en-ID" dirty="0" err="1"/>
              <a:t>Kategori</a:t>
            </a:r>
            <a:r>
              <a:rPr lang="en-ID" dirty="0"/>
              <a:t> case (Transaction/Hardware Issue/QRIS)</a:t>
            </a:r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Top 5 case </a:t>
            </a:r>
            <a:r>
              <a:rPr lang="en-ID" dirty="0" err="1"/>
              <a:t>berdasarkan</a:t>
            </a:r>
            <a:r>
              <a:rPr lang="en-ID" dirty="0"/>
              <a:t> </a:t>
            </a:r>
            <a:r>
              <a:rPr lang="en-ID" dirty="0" err="1"/>
              <a:t>kategori</a:t>
            </a:r>
            <a:endParaRPr lang="en-ID" dirty="0"/>
          </a:p>
          <a:p>
            <a:pPr marL="342900" indent="-342900">
              <a:buFont typeface="+mj-lt"/>
              <a:buAutoNum type="arabicPeriod"/>
            </a:pPr>
            <a:r>
              <a:rPr lang="en-ID" dirty="0"/>
              <a:t>Top 10 case out of SLA</a:t>
            </a:r>
          </a:p>
          <a:p>
            <a:pPr marL="342900" indent="-342900">
              <a:buAutoNum type="arabicPeriod"/>
            </a:pPr>
            <a:endParaRPr lang="en-US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14BF164E-93CA-3587-629E-837B24DA5710}"/>
              </a:ext>
            </a:extLst>
          </p:cNvPr>
          <p:cNvSpPr txBox="1"/>
          <p:nvPr/>
        </p:nvSpPr>
        <p:spPr>
          <a:xfrm>
            <a:off x="319312" y="3429000"/>
            <a:ext cx="1006420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D" b="1" dirty="0"/>
              <a:t>SLA &amp; OLA Monitoring </a:t>
            </a:r>
          </a:p>
          <a:p>
            <a:pPr marL="342900" indent="-342900">
              <a:buAutoNum type="arabicPeriod"/>
            </a:pPr>
            <a:r>
              <a:rPr lang="en-ID" dirty="0" err="1"/>
              <a:t>Informasi</a:t>
            </a:r>
            <a:r>
              <a:rPr lang="en-ID" dirty="0"/>
              <a:t> case </a:t>
            </a:r>
            <a:r>
              <a:rPr lang="en-ID" dirty="0" err="1"/>
              <a:t>berikut</a:t>
            </a:r>
            <a:r>
              <a:rPr lang="en-ID" dirty="0"/>
              <a:t> SLA &amp; OLA</a:t>
            </a:r>
          </a:p>
          <a:p>
            <a:pPr marL="342900" indent="-342900">
              <a:buAutoNum type="arabicPeriod"/>
            </a:pPr>
            <a:r>
              <a:rPr lang="en-ID" dirty="0"/>
              <a:t>List case (open/in-progress/development/UAT/CCB/PTR)</a:t>
            </a:r>
          </a:p>
          <a:p>
            <a:pPr marL="342900" indent="-342900">
              <a:buAutoNum type="arabicPeriod"/>
            </a:pPr>
            <a:r>
              <a:rPr lang="en-ID" dirty="0" err="1"/>
              <a:t>Indikator</a:t>
            </a:r>
            <a:r>
              <a:rPr lang="en-ID" dirty="0"/>
              <a:t> </a:t>
            </a:r>
            <a:r>
              <a:rPr lang="en-ID" dirty="0" err="1"/>
              <a:t>warna</a:t>
            </a:r>
            <a:r>
              <a:rPr lang="en-ID" dirty="0"/>
              <a:t> OLA (</a:t>
            </a:r>
            <a:r>
              <a:rPr lang="en-ID" dirty="0" err="1"/>
              <a:t>merah</a:t>
            </a:r>
            <a:r>
              <a:rPr lang="en-ID" dirty="0"/>
              <a:t>: </a:t>
            </a:r>
            <a:r>
              <a:rPr lang="en-ID" dirty="0" err="1"/>
              <a:t>kritikal</a:t>
            </a:r>
            <a:r>
              <a:rPr lang="en-ID" dirty="0"/>
              <a:t>, </a:t>
            </a:r>
            <a:r>
              <a:rPr lang="en-ID" dirty="0" err="1"/>
              <a:t>kuning</a:t>
            </a:r>
            <a:r>
              <a:rPr lang="en-ID" dirty="0"/>
              <a:t>: </a:t>
            </a:r>
            <a:r>
              <a:rPr lang="en-ID" dirty="0" err="1"/>
              <a:t>sedang</a:t>
            </a:r>
            <a:r>
              <a:rPr lang="en-ID" dirty="0"/>
              <a:t>, </a:t>
            </a:r>
            <a:r>
              <a:rPr lang="en-ID" dirty="0" err="1"/>
              <a:t>hijau</a:t>
            </a:r>
            <a:r>
              <a:rPr lang="en-ID" dirty="0"/>
              <a:t>: </a:t>
            </a:r>
            <a:r>
              <a:rPr lang="en-ID" dirty="0" err="1"/>
              <a:t>aman</a:t>
            </a:r>
            <a:r>
              <a:rPr lang="en-ID" dirty="0"/>
              <a:t>)</a:t>
            </a:r>
          </a:p>
          <a:p>
            <a:pPr marL="342900" indent="-342900">
              <a:buAutoNum type="arabicPeriod"/>
            </a:pPr>
            <a:r>
              <a:rPr lang="en-ID" dirty="0"/>
              <a:t>Timer SLA per case (countdown </a:t>
            </a:r>
            <a:r>
              <a:rPr lang="en-ID" dirty="0" err="1"/>
              <a:t>atau</a:t>
            </a:r>
            <a:r>
              <a:rPr lang="en-ID" dirty="0"/>
              <a:t> aging)</a:t>
            </a:r>
          </a:p>
          <a:p>
            <a:pPr marL="342900" indent="-342900">
              <a:buAutoNum type="arabicPeriod"/>
            </a:pPr>
            <a:r>
              <a:rPr lang="en-ID" dirty="0"/>
              <a:t>Progress (%)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6749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736DE7-7693-3B7B-A0F1-EDF432191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Draft Mockup – Incident Management</a:t>
            </a:r>
          </a:p>
        </p:txBody>
      </p:sp>
      <p:sp>
        <p:nvSpPr>
          <p:cNvPr id="210" name="object 2">
            <a:extLst>
              <a:ext uri="{FF2B5EF4-FFF2-40B4-BE49-F238E27FC236}">
                <a16:creationId xmlns:a16="http://schemas.microsoft.com/office/drawing/2014/main" id="{4FC684AB-BBC2-29E4-7FD4-CE017F8815B5}"/>
              </a:ext>
            </a:extLst>
          </p:cNvPr>
          <p:cNvSpPr txBox="1"/>
          <p:nvPr/>
        </p:nvSpPr>
        <p:spPr>
          <a:xfrm>
            <a:off x="280238" y="850530"/>
            <a:ext cx="3025775" cy="409575"/>
          </a:xfrm>
          <a:prstGeom prst="rect">
            <a:avLst/>
          </a:prstGeom>
          <a:solidFill>
            <a:srgbClr val="343A44"/>
          </a:solidFill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ct val="100000"/>
              </a:lnSpc>
            </a:pPr>
            <a:r>
              <a:rPr sz="2250" b="1" spc="-75" dirty="0">
                <a:solidFill>
                  <a:srgbClr val="F7FBFB"/>
                </a:solidFill>
                <a:latin typeface="Arial"/>
                <a:cs typeface="Arial"/>
              </a:rPr>
              <a:t>I</a:t>
            </a:r>
            <a:r>
              <a:rPr sz="2250" b="1" spc="-25" dirty="0">
                <a:solidFill>
                  <a:srgbClr val="F7FBFB"/>
                </a:solidFill>
                <a:latin typeface="Arial"/>
                <a:cs typeface="Arial"/>
              </a:rPr>
              <a:t>n</a:t>
            </a:r>
            <a:r>
              <a:rPr sz="2250" b="1" spc="60" dirty="0">
                <a:solidFill>
                  <a:srgbClr val="F7FBFB"/>
                </a:solidFill>
                <a:latin typeface="Arial"/>
                <a:cs typeface="Arial"/>
              </a:rPr>
              <a:t>c</a:t>
            </a:r>
            <a:r>
              <a:rPr sz="2250" b="1" spc="-145" dirty="0">
                <a:solidFill>
                  <a:srgbClr val="F7FBFB"/>
                </a:solidFill>
                <a:latin typeface="Arial"/>
                <a:cs typeface="Arial"/>
              </a:rPr>
              <a:t>i</a:t>
            </a:r>
            <a:r>
              <a:rPr sz="2250" b="1" spc="80" dirty="0">
                <a:solidFill>
                  <a:srgbClr val="F7FBFB"/>
                </a:solidFill>
                <a:latin typeface="Arial"/>
                <a:cs typeface="Arial"/>
              </a:rPr>
              <a:t>d</a:t>
            </a:r>
            <a:r>
              <a:rPr sz="2250" b="1" spc="60" dirty="0">
                <a:solidFill>
                  <a:srgbClr val="F7FBFB"/>
                </a:solidFill>
                <a:latin typeface="Arial"/>
                <a:cs typeface="Arial"/>
              </a:rPr>
              <a:t>e</a:t>
            </a:r>
            <a:r>
              <a:rPr sz="2250" b="1" spc="30" dirty="0">
                <a:solidFill>
                  <a:srgbClr val="F7FBFB"/>
                </a:solidFill>
                <a:latin typeface="Arial"/>
                <a:cs typeface="Arial"/>
              </a:rPr>
              <a:t>nt</a:t>
            </a:r>
            <a:r>
              <a:rPr sz="2250" b="1" spc="20" dirty="0">
                <a:solidFill>
                  <a:srgbClr val="F7FBFB"/>
                </a:solidFill>
                <a:latin typeface="Arial"/>
                <a:cs typeface="Arial"/>
              </a:rPr>
              <a:t> </a:t>
            </a:r>
            <a:r>
              <a:rPr sz="2250" b="1" spc="75" dirty="0">
                <a:solidFill>
                  <a:srgbClr val="F7FBFB"/>
                </a:solidFill>
                <a:latin typeface="Arial"/>
                <a:cs typeface="Arial"/>
              </a:rPr>
              <a:t>Ma</a:t>
            </a:r>
            <a:r>
              <a:rPr sz="2250" b="1" spc="-75" dirty="0">
                <a:solidFill>
                  <a:srgbClr val="F7FBFB"/>
                </a:solidFill>
                <a:latin typeface="Arial"/>
                <a:cs typeface="Arial"/>
              </a:rPr>
              <a:t>n</a:t>
            </a:r>
            <a:r>
              <a:rPr sz="2250" b="1" spc="75" dirty="0">
                <a:solidFill>
                  <a:srgbClr val="F7FBFB"/>
                </a:solidFill>
                <a:latin typeface="Arial"/>
                <a:cs typeface="Arial"/>
              </a:rPr>
              <a:t>a</a:t>
            </a:r>
            <a:r>
              <a:rPr sz="2250" b="1" dirty="0">
                <a:solidFill>
                  <a:srgbClr val="F7FBFB"/>
                </a:solidFill>
                <a:latin typeface="Arial"/>
                <a:cs typeface="Arial"/>
              </a:rPr>
              <a:t>g</a:t>
            </a:r>
            <a:r>
              <a:rPr sz="2250" b="1" spc="110" dirty="0">
                <a:solidFill>
                  <a:srgbClr val="F7FBFB"/>
                </a:solidFill>
                <a:latin typeface="Arial"/>
                <a:cs typeface="Arial"/>
              </a:rPr>
              <a:t>e</a:t>
            </a:r>
            <a:r>
              <a:rPr sz="2250" b="1" spc="45" dirty="0">
                <a:solidFill>
                  <a:srgbClr val="F7FBFB"/>
                </a:solidFill>
                <a:latin typeface="Arial"/>
                <a:cs typeface="Arial"/>
              </a:rPr>
              <a:t>m</a:t>
            </a:r>
            <a:r>
              <a:rPr sz="2250" b="1" spc="110" dirty="0">
                <a:solidFill>
                  <a:srgbClr val="F7FBFB"/>
                </a:solidFill>
                <a:latin typeface="Arial"/>
                <a:cs typeface="Arial"/>
              </a:rPr>
              <a:t>e</a:t>
            </a:r>
            <a:r>
              <a:rPr sz="2250" b="1" spc="-145" dirty="0">
                <a:solidFill>
                  <a:srgbClr val="F7FBFB"/>
                </a:solidFill>
                <a:latin typeface="Arial"/>
                <a:cs typeface="Arial"/>
              </a:rPr>
              <a:t>n</a:t>
            </a:r>
            <a:r>
              <a:rPr sz="2250" b="1" spc="114" dirty="0">
                <a:solidFill>
                  <a:srgbClr val="F7FBFB"/>
                </a:solidFill>
                <a:latin typeface="Arial"/>
                <a:cs typeface="Arial"/>
              </a:rPr>
              <a:t>t</a:t>
            </a:r>
            <a:endParaRPr sz="2250">
              <a:latin typeface="Arial"/>
              <a:cs typeface="Arial"/>
            </a:endParaRPr>
          </a:p>
        </p:txBody>
      </p:sp>
      <p:sp>
        <p:nvSpPr>
          <p:cNvPr id="211" name="object 3">
            <a:extLst>
              <a:ext uri="{FF2B5EF4-FFF2-40B4-BE49-F238E27FC236}">
                <a16:creationId xmlns:a16="http://schemas.microsoft.com/office/drawing/2014/main" id="{A35E2388-EF87-692E-06B6-074852F09EE6}"/>
              </a:ext>
            </a:extLst>
          </p:cNvPr>
          <p:cNvSpPr txBox="1"/>
          <p:nvPr/>
        </p:nvSpPr>
        <p:spPr>
          <a:xfrm>
            <a:off x="3928265" y="3893913"/>
            <a:ext cx="262795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solidFill>
                  <a:srgbClr val="2D2D2F"/>
                </a:solidFill>
                <a:latin typeface="Arial"/>
                <a:cs typeface="Arial"/>
              </a:rPr>
              <a:t>I</a:t>
            </a:r>
            <a:r>
              <a:rPr sz="1100" b="1" spc="60" dirty="0">
                <a:solidFill>
                  <a:srgbClr val="2D2D2F"/>
                </a:solidFill>
                <a:latin typeface="Arial"/>
                <a:cs typeface="Arial"/>
              </a:rPr>
              <a:t>N</a:t>
            </a:r>
            <a:r>
              <a:rPr sz="1100" b="1" spc="75" dirty="0">
                <a:solidFill>
                  <a:srgbClr val="2D2D2F"/>
                </a:solidFill>
                <a:latin typeface="Arial"/>
                <a:cs typeface="Arial"/>
              </a:rPr>
              <a:t>C</a:t>
            </a:r>
            <a:r>
              <a:rPr sz="1100" b="1" spc="-5" dirty="0"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1C1A1D"/>
                </a:solidFill>
                <a:latin typeface="Arial"/>
                <a:cs typeface="Arial"/>
              </a:rPr>
              <a:t>DENTS</a:t>
            </a:r>
            <a:r>
              <a:rPr sz="1100" b="1" spc="4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1C1A1D"/>
                </a:solidFill>
                <a:latin typeface="Arial"/>
                <a:cs typeface="Arial"/>
              </a:rPr>
              <a:t>BY</a:t>
            </a:r>
            <a:r>
              <a:rPr sz="1100" b="1" spc="7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2D2D2F"/>
                </a:solidFill>
                <a:latin typeface="Arial"/>
                <a:cs typeface="Arial"/>
              </a:rPr>
              <a:t>STATUS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12" name="object 4">
            <a:extLst>
              <a:ext uri="{FF2B5EF4-FFF2-40B4-BE49-F238E27FC236}">
                <a16:creationId xmlns:a16="http://schemas.microsoft.com/office/drawing/2014/main" id="{361C0881-4A01-CFAB-11D2-80520123DE14}"/>
              </a:ext>
            </a:extLst>
          </p:cNvPr>
          <p:cNvSpPr txBox="1"/>
          <p:nvPr/>
        </p:nvSpPr>
        <p:spPr>
          <a:xfrm>
            <a:off x="8371184" y="1280009"/>
            <a:ext cx="180784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6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45" dirty="0">
                <a:solidFill>
                  <a:srgbClr val="1C1A1D"/>
                </a:solidFill>
                <a:latin typeface="Arial"/>
                <a:cs typeface="Arial"/>
              </a:rPr>
              <a:t>NC</a:t>
            </a:r>
            <a:r>
              <a:rPr sz="1100" b="1" spc="3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1C1A1D"/>
                </a:solidFill>
                <a:latin typeface="Arial"/>
                <a:cs typeface="Arial"/>
              </a:rPr>
              <a:t>DENTS</a:t>
            </a:r>
            <a:r>
              <a:rPr sz="1100" b="1" spc="4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1C1A1D"/>
                </a:solidFill>
                <a:latin typeface="Arial"/>
                <a:cs typeface="Arial"/>
              </a:rPr>
              <a:t>BY</a:t>
            </a:r>
            <a:r>
              <a:rPr sz="1100" b="1" spc="6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2D2D2F"/>
                </a:solidFill>
                <a:latin typeface="Arial"/>
                <a:cs typeface="Arial"/>
              </a:rPr>
              <a:t>SEVER</a:t>
            </a:r>
            <a:r>
              <a:rPr sz="1100" b="1" spc="-15" dirty="0">
                <a:solidFill>
                  <a:srgbClr val="2D2D2F"/>
                </a:solidFill>
                <a:latin typeface="Arial"/>
                <a:cs typeface="Arial"/>
              </a:rPr>
              <a:t>I</a:t>
            </a:r>
            <a:r>
              <a:rPr sz="1100" b="1" spc="5" dirty="0">
                <a:solidFill>
                  <a:srgbClr val="2D2D2F"/>
                </a:solidFill>
                <a:latin typeface="Arial"/>
                <a:cs typeface="Arial"/>
              </a:rPr>
              <a:t>TY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13" name="object 5">
            <a:extLst>
              <a:ext uri="{FF2B5EF4-FFF2-40B4-BE49-F238E27FC236}">
                <a16:creationId xmlns:a16="http://schemas.microsoft.com/office/drawing/2014/main" id="{5349EFD2-4358-F58E-68E2-7B39570F0B64}"/>
              </a:ext>
            </a:extLst>
          </p:cNvPr>
          <p:cNvSpPr txBox="1"/>
          <p:nvPr/>
        </p:nvSpPr>
        <p:spPr>
          <a:xfrm>
            <a:off x="3938495" y="5198505"/>
            <a:ext cx="46863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5" dirty="0">
                <a:solidFill>
                  <a:srgbClr val="3D3B3D"/>
                </a:solidFill>
                <a:latin typeface="Arial"/>
                <a:cs typeface="Arial"/>
              </a:rPr>
              <a:t>C</a:t>
            </a:r>
            <a:r>
              <a:rPr sz="1100" dirty="0">
                <a:solidFill>
                  <a:srgbClr val="1C1A1D"/>
                </a:solidFill>
                <a:latin typeface="Arial"/>
                <a:cs typeface="Arial"/>
              </a:rPr>
              <a:t>l</a:t>
            </a:r>
            <a:r>
              <a:rPr sz="1100" spc="10" dirty="0">
                <a:solidFill>
                  <a:srgbClr val="3D3B3D"/>
                </a:solidFill>
                <a:latin typeface="Arial"/>
                <a:cs typeface="Arial"/>
              </a:rPr>
              <a:t>osed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14" name="object 6">
            <a:extLst>
              <a:ext uri="{FF2B5EF4-FFF2-40B4-BE49-F238E27FC236}">
                <a16:creationId xmlns:a16="http://schemas.microsoft.com/office/drawing/2014/main" id="{E5A5CCF1-4844-3940-36CE-7B04746F623B}"/>
              </a:ext>
            </a:extLst>
          </p:cNvPr>
          <p:cNvSpPr txBox="1"/>
          <p:nvPr/>
        </p:nvSpPr>
        <p:spPr>
          <a:xfrm>
            <a:off x="6675498" y="5166817"/>
            <a:ext cx="190500" cy="1714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50" spc="-80" dirty="0">
                <a:solidFill>
                  <a:srgbClr val="3D3B3D"/>
                </a:solidFill>
                <a:latin typeface="Times New Roman"/>
                <a:cs typeface="Times New Roman"/>
              </a:rPr>
              <a:t>1</a:t>
            </a:r>
            <a:r>
              <a:rPr sz="1150" spc="220" dirty="0">
                <a:solidFill>
                  <a:srgbClr val="3D3B3D"/>
                </a:solidFill>
                <a:latin typeface="Times New Roman"/>
                <a:cs typeface="Times New Roman"/>
              </a:rPr>
              <a:t>8</a:t>
            </a:r>
            <a:endParaRPr sz="1150">
              <a:latin typeface="Times New Roman"/>
              <a:cs typeface="Times New Roman"/>
            </a:endParaRPr>
          </a:p>
        </p:txBody>
      </p:sp>
      <p:sp>
        <p:nvSpPr>
          <p:cNvPr id="216" name="object 8">
            <a:extLst>
              <a:ext uri="{FF2B5EF4-FFF2-40B4-BE49-F238E27FC236}">
                <a16:creationId xmlns:a16="http://schemas.microsoft.com/office/drawing/2014/main" id="{C6ADA6DF-CA96-7D06-C80C-E334BD9B001D}"/>
              </a:ext>
            </a:extLst>
          </p:cNvPr>
          <p:cNvSpPr txBox="1"/>
          <p:nvPr/>
        </p:nvSpPr>
        <p:spPr>
          <a:xfrm>
            <a:off x="1507808" y="2152300"/>
            <a:ext cx="1379855" cy="90296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400" b="1" spc="-215" dirty="0">
                <a:solidFill>
                  <a:srgbClr val="3D3B3D"/>
                </a:solidFill>
                <a:latin typeface="Arial"/>
                <a:cs typeface="Arial"/>
              </a:rPr>
              <a:t>1</a:t>
            </a:r>
            <a:r>
              <a:rPr sz="4400" b="1" spc="145" dirty="0">
                <a:solidFill>
                  <a:srgbClr val="3D3B3D"/>
                </a:solidFill>
                <a:latin typeface="Arial"/>
                <a:cs typeface="Arial"/>
              </a:rPr>
              <a:t>25</a:t>
            </a:r>
            <a:endParaRPr sz="44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600" spc="-120" dirty="0">
                <a:solidFill>
                  <a:srgbClr val="1C1A1D"/>
                </a:solidFill>
                <a:latin typeface="Arial"/>
                <a:cs typeface="Arial"/>
              </a:rPr>
              <a:t>T</a:t>
            </a:r>
            <a:r>
              <a:rPr sz="1600" spc="20" dirty="0">
                <a:solidFill>
                  <a:srgbClr val="1C1A1D"/>
                </a:solidFill>
                <a:latin typeface="Arial"/>
                <a:cs typeface="Arial"/>
              </a:rPr>
              <a:t>ot</a:t>
            </a:r>
            <a:r>
              <a:rPr sz="1600" spc="130" dirty="0">
                <a:solidFill>
                  <a:srgbClr val="1C1A1D"/>
                </a:solidFill>
                <a:latin typeface="Arial"/>
                <a:cs typeface="Arial"/>
              </a:rPr>
              <a:t>a</a:t>
            </a:r>
            <a:r>
              <a:rPr sz="1600" spc="105" dirty="0">
                <a:latin typeface="Arial"/>
                <a:cs typeface="Arial"/>
              </a:rPr>
              <a:t>l</a:t>
            </a:r>
            <a:r>
              <a:rPr sz="1600" spc="-165" dirty="0">
                <a:latin typeface="Arial"/>
                <a:cs typeface="Arial"/>
              </a:rPr>
              <a:t> </a:t>
            </a:r>
            <a:r>
              <a:rPr sz="1600" spc="-80" dirty="0">
                <a:solidFill>
                  <a:srgbClr val="2D2D2F"/>
                </a:solidFill>
                <a:latin typeface="Arial"/>
                <a:cs typeface="Arial"/>
              </a:rPr>
              <a:t>I</a:t>
            </a:r>
            <a:r>
              <a:rPr sz="1600" spc="25" dirty="0">
                <a:solidFill>
                  <a:srgbClr val="2D2D2F"/>
                </a:solidFill>
                <a:latin typeface="Arial"/>
                <a:cs typeface="Arial"/>
              </a:rPr>
              <a:t>ncidents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217" name="object 9">
            <a:extLst>
              <a:ext uri="{FF2B5EF4-FFF2-40B4-BE49-F238E27FC236}">
                <a16:creationId xmlns:a16="http://schemas.microsoft.com/office/drawing/2014/main" id="{079CCA1C-0E1F-0738-4B59-32AAB0EE2D3E}"/>
              </a:ext>
            </a:extLst>
          </p:cNvPr>
          <p:cNvSpPr txBox="1"/>
          <p:nvPr/>
        </p:nvSpPr>
        <p:spPr>
          <a:xfrm>
            <a:off x="3938495" y="4224887"/>
            <a:ext cx="691899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-10" dirty="0">
                <a:solidFill>
                  <a:srgbClr val="3D3B3D"/>
                </a:solidFill>
                <a:latin typeface="Arial"/>
                <a:cs typeface="Arial"/>
              </a:rPr>
              <a:t>Analysis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18" name="object 10">
            <a:extLst>
              <a:ext uri="{FF2B5EF4-FFF2-40B4-BE49-F238E27FC236}">
                <a16:creationId xmlns:a16="http://schemas.microsoft.com/office/drawing/2014/main" id="{707DD5C8-BE90-C20F-65FC-75357F0BA005}"/>
              </a:ext>
            </a:extLst>
          </p:cNvPr>
          <p:cNvSpPr txBox="1"/>
          <p:nvPr/>
        </p:nvSpPr>
        <p:spPr>
          <a:xfrm>
            <a:off x="6667615" y="4175392"/>
            <a:ext cx="189865" cy="1778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200" spc="-50" dirty="0">
                <a:solidFill>
                  <a:srgbClr val="3D3B3D"/>
                </a:solidFill>
                <a:latin typeface="Times New Roman"/>
                <a:cs typeface="Times New Roman"/>
              </a:rPr>
              <a:t>5</a:t>
            </a:r>
            <a:r>
              <a:rPr sz="1200" spc="130" dirty="0">
                <a:solidFill>
                  <a:srgbClr val="3D3B3D"/>
                </a:solidFill>
                <a:latin typeface="Times New Roman"/>
                <a:cs typeface="Times New Roman"/>
              </a:rPr>
              <a:t>6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219" name="object 11">
            <a:extLst>
              <a:ext uri="{FF2B5EF4-FFF2-40B4-BE49-F238E27FC236}">
                <a16:creationId xmlns:a16="http://schemas.microsoft.com/office/drawing/2014/main" id="{D38DC5D5-7F7D-3D43-E7C2-035A1277FD28}"/>
              </a:ext>
            </a:extLst>
          </p:cNvPr>
          <p:cNvSpPr txBox="1"/>
          <p:nvPr/>
        </p:nvSpPr>
        <p:spPr>
          <a:xfrm>
            <a:off x="3938495" y="4552547"/>
            <a:ext cx="87320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50" dirty="0">
                <a:solidFill>
                  <a:srgbClr val="2D2D2F"/>
                </a:solidFill>
                <a:latin typeface="Arial"/>
                <a:cs typeface="Arial"/>
              </a:rPr>
              <a:t>Development</a:t>
            </a:r>
            <a:endParaRPr baseline="-25089" dirty="0">
              <a:latin typeface="Arial"/>
              <a:cs typeface="Arial"/>
            </a:endParaRPr>
          </a:p>
        </p:txBody>
      </p:sp>
      <p:sp>
        <p:nvSpPr>
          <p:cNvPr id="220" name="object 14">
            <a:extLst>
              <a:ext uri="{FF2B5EF4-FFF2-40B4-BE49-F238E27FC236}">
                <a16:creationId xmlns:a16="http://schemas.microsoft.com/office/drawing/2014/main" id="{4E855359-4B6A-5BB9-00E1-DACFFA94259F}"/>
              </a:ext>
            </a:extLst>
          </p:cNvPr>
          <p:cNvSpPr txBox="1"/>
          <p:nvPr/>
        </p:nvSpPr>
        <p:spPr>
          <a:xfrm>
            <a:off x="6680006" y="4548164"/>
            <a:ext cx="1917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0" dirty="0">
                <a:solidFill>
                  <a:srgbClr val="2D2D2F"/>
                </a:solidFill>
                <a:latin typeface="Arial"/>
                <a:cs typeface="Arial"/>
              </a:rPr>
              <a:t>24</a:t>
            </a:r>
            <a:endParaRPr sz="1050" dirty="0">
              <a:latin typeface="Arial"/>
              <a:cs typeface="Arial"/>
            </a:endParaRPr>
          </a:p>
        </p:txBody>
      </p:sp>
      <p:sp>
        <p:nvSpPr>
          <p:cNvPr id="221" name="object 15">
            <a:extLst>
              <a:ext uri="{FF2B5EF4-FFF2-40B4-BE49-F238E27FC236}">
                <a16:creationId xmlns:a16="http://schemas.microsoft.com/office/drawing/2014/main" id="{D947B916-8580-DCBB-918F-B7B6B8F67ADD}"/>
              </a:ext>
            </a:extLst>
          </p:cNvPr>
          <p:cNvSpPr txBox="1"/>
          <p:nvPr/>
        </p:nvSpPr>
        <p:spPr>
          <a:xfrm>
            <a:off x="6667615" y="4857587"/>
            <a:ext cx="191770" cy="1587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50" spc="70" dirty="0">
                <a:solidFill>
                  <a:srgbClr val="3D3B3D"/>
                </a:solidFill>
                <a:latin typeface="Arial"/>
                <a:cs typeface="Arial"/>
              </a:rPr>
              <a:t>24</a:t>
            </a:r>
            <a:endParaRPr sz="1050">
              <a:latin typeface="Arial"/>
              <a:cs typeface="Arial"/>
            </a:endParaRPr>
          </a:p>
        </p:txBody>
      </p:sp>
      <p:sp>
        <p:nvSpPr>
          <p:cNvPr id="222" name="object 16">
            <a:extLst>
              <a:ext uri="{FF2B5EF4-FFF2-40B4-BE49-F238E27FC236}">
                <a16:creationId xmlns:a16="http://schemas.microsoft.com/office/drawing/2014/main" id="{3F81C601-4EB5-2464-1257-00CDBBA7C93B}"/>
              </a:ext>
            </a:extLst>
          </p:cNvPr>
          <p:cNvSpPr txBox="1"/>
          <p:nvPr/>
        </p:nvSpPr>
        <p:spPr>
          <a:xfrm>
            <a:off x="450875" y="3893913"/>
            <a:ext cx="218440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35" dirty="0">
                <a:solidFill>
                  <a:srgbClr val="1C1A1D"/>
                </a:solidFill>
                <a:latin typeface="Arial"/>
                <a:cs typeface="Arial"/>
              </a:rPr>
              <a:t>TOP</a:t>
            </a:r>
            <a:r>
              <a:rPr sz="1100" b="1" spc="9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100" dirty="0">
                <a:solidFill>
                  <a:srgbClr val="3D3B3D"/>
                </a:solidFill>
                <a:latin typeface="Arial"/>
                <a:cs typeface="Arial"/>
              </a:rPr>
              <a:t>5</a:t>
            </a:r>
            <a:r>
              <a:rPr sz="1100" b="1" spc="3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sz="1100" b="1" spc="40" dirty="0">
                <a:solidFill>
                  <a:srgbClr val="2D2D2F"/>
                </a:solidFill>
                <a:latin typeface="Arial"/>
                <a:cs typeface="Arial"/>
              </a:rPr>
              <a:t>INC</a:t>
            </a:r>
            <a:r>
              <a:rPr sz="1100" b="1" spc="-5" dirty="0"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2D2D2F"/>
                </a:solidFill>
                <a:latin typeface="Arial"/>
                <a:cs typeface="Arial"/>
              </a:rPr>
              <a:t>DENT</a:t>
            </a:r>
            <a:r>
              <a:rPr sz="1100" b="1" spc="20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D2D2F"/>
                </a:solidFill>
                <a:latin typeface="Arial"/>
                <a:cs typeface="Arial"/>
              </a:rPr>
              <a:t>CATEGOR</a:t>
            </a:r>
            <a:r>
              <a:rPr sz="1100" b="1" spc="-150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2D2D2F"/>
                </a:solidFill>
                <a:latin typeface="Arial"/>
                <a:cs typeface="Arial"/>
              </a:rPr>
              <a:t>ES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23" name="object 17">
            <a:extLst>
              <a:ext uri="{FF2B5EF4-FFF2-40B4-BE49-F238E27FC236}">
                <a16:creationId xmlns:a16="http://schemas.microsoft.com/office/drawing/2014/main" id="{81FEC8B7-B9F8-EED5-A86A-167AA07FD77F}"/>
              </a:ext>
            </a:extLst>
          </p:cNvPr>
          <p:cNvSpPr txBox="1"/>
          <p:nvPr/>
        </p:nvSpPr>
        <p:spPr>
          <a:xfrm>
            <a:off x="8158533" y="3302854"/>
            <a:ext cx="1167765" cy="14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885" dirty="0">
                <a:solidFill>
                  <a:srgbClr val="5B93DD"/>
                </a:solidFill>
                <a:latin typeface="Arial"/>
                <a:cs typeface="Arial"/>
              </a:rPr>
              <a:t>•</a:t>
            </a:r>
            <a:r>
              <a:rPr sz="950" spc="-185" dirty="0">
                <a:solidFill>
                  <a:srgbClr val="5B93DD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4D4D4D"/>
                </a:solidFill>
                <a:latin typeface="Arial"/>
                <a:cs typeface="Arial"/>
              </a:rPr>
              <a:t>C</a:t>
            </a:r>
            <a:r>
              <a:rPr sz="950" spc="50" dirty="0">
                <a:solidFill>
                  <a:srgbClr val="2D2D2F"/>
                </a:solidFill>
                <a:latin typeface="Arial"/>
                <a:cs typeface="Arial"/>
              </a:rPr>
              <a:t>r</a:t>
            </a:r>
            <a:r>
              <a:rPr sz="950" spc="-30" dirty="0">
                <a:solidFill>
                  <a:srgbClr val="69696B"/>
                </a:solidFill>
                <a:latin typeface="Arial"/>
                <a:cs typeface="Arial"/>
              </a:rPr>
              <a:t>i</a:t>
            </a:r>
            <a:r>
              <a:rPr sz="950" spc="30" dirty="0">
                <a:solidFill>
                  <a:srgbClr val="2D2D2F"/>
                </a:solidFill>
                <a:latin typeface="Arial"/>
                <a:cs typeface="Arial"/>
              </a:rPr>
              <a:t>tic</a:t>
            </a:r>
            <a:r>
              <a:rPr sz="950" spc="85" dirty="0">
                <a:solidFill>
                  <a:srgbClr val="2D2D2F"/>
                </a:solidFill>
                <a:latin typeface="Arial"/>
                <a:cs typeface="Arial"/>
              </a:rPr>
              <a:t>a</a:t>
            </a:r>
            <a:r>
              <a:rPr sz="950" spc="254" dirty="0">
                <a:solidFill>
                  <a:srgbClr val="69696B"/>
                </a:solidFill>
                <a:latin typeface="Arial"/>
                <a:cs typeface="Arial"/>
              </a:rPr>
              <a:t>l</a:t>
            </a:r>
            <a:r>
              <a:rPr sz="950" dirty="0">
                <a:solidFill>
                  <a:srgbClr val="69696B"/>
                </a:solidFill>
                <a:latin typeface="Arial"/>
                <a:cs typeface="Arial"/>
              </a:rPr>
              <a:t>  </a:t>
            </a:r>
            <a:r>
              <a:rPr sz="950" spc="-20" dirty="0">
                <a:solidFill>
                  <a:srgbClr val="69696B"/>
                </a:solidFill>
                <a:latin typeface="Arial"/>
                <a:cs typeface="Arial"/>
              </a:rPr>
              <a:t> </a:t>
            </a:r>
            <a:r>
              <a:rPr sz="950" spc="795" dirty="0">
                <a:solidFill>
                  <a:srgbClr val="E99A50"/>
                </a:solidFill>
                <a:latin typeface="Arial"/>
                <a:cs typeface="Arial"/>
              </a:rPr>
              <a:t>•</a:t>
            </a:r>
            <a:r>
              <a:rPr sz="950" spc="-95" dirty="0">
                <a:solidFill>
                  <a:srgbClr val="E99A50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2D2D2F"/>
                </a:solidFill>
                <a:latin typeface="Arial"/>
                <a:cs typeface="Arial"/>
              </a:rPr>
              <a:t>H</a:t>
            </a:r>
            <a:r>
              <a:rPr sz="950" spc="50" dirty="0">
                <a:solidFill>
                  <a:srgbClr val="4D4D4D"/>
                </a:solidFill>
                <a:latin typeface="Arial"/>
                <a:cs typeface="Arial"/>
              </a:rPr>
              <a:t>igh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24" name="object 18">
            <a:extLst>
              <a:ext uri="{FF2B5EF4-FFF2-40B4-BE49-F238E27FC236}">
                <a16:creationId xmlns:a16="http://schemas.microsoft.com/office/drawing/2014/main" id="{F5B5E5DA-7BDF-0194-C0E2-5DD04A4D3037}"/>
              </a:ext>
            </a:extLst>
          </p:cNvPr>
          <p:cNvSpPr txBox="1"/>
          <p:nvPr/>
        </p:nvSpPr>
        <p:spPr>
          <a:xfrm>
            <a:off x="9427657" y="3302854"/>
            <a:ext cx="1160145" cy="14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180" indent="-157480">
              <a:lnSpc>
                <a:spcPct val="100000"/>
              </a:lnSpc>
              <a:buClr>
                <a:srgbClr val="91B6E6"/>
              </a:buClr>
              <a:buFont typeface="Arial"/>
              <a:buChar char="•"/>
              <a:tabLst>
                <a:tab pos="170815" algn="l"/>
              </a:tabLst>
            </a:pPr>
            <a:r>
              <a:rPr sz="950" spc="70" dirty="0">
                <a:solidFill>
                  <a:srgbClr val="3D3B3D"/>
                </a:solidFill>
                <a:latin typeface="Arial"/>
                <a:cs typeface="Arial"/>
              </a:rPr>
              <a:t>Me</a:t>
            </a:r>
            <a:r>
              <a:rPr sz="950" spc="-10" dirty="0">
                <a:solidFill>
                  <a:srgbClr val="3D3B3D"/>
                </a:solidFill>
                <a:latin typeface="Arial"/>
                <a:cs typeface="Arial"/>
              </a:rPr>
              <a:t>d</a:t>
            </a:r>
            <a:r>
              <a:rPr sz="950" spc="35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950" spc="75" dirty="0">
                <a:solidFill>
                  <a:srgbClr val="4D4D4D"/>
                </a:solidFill>
                <a:latin typeface="Arial"/>
                <a:cs typeface="Arial"/>
              </a:rPr>
              <a:t>um</a:t>
            </a:r>
            <a:r>
              <a:rPr sz="950" dirty="0">
                <a:solidFill>
                  <a:srgbClr val="4D4D4D"/>
                </a:solidFill>
                <a:latin typeface="Arial"/>
                <a:cs typeface="Arial"/>
              </a:rPr>
              <a:t>  </a:t>
            </a:r>
            <a:r>
              <a:rPr sz="950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950" spc="795" dirty="0">
                <a:solidFill>
                  <a:srgbClr val="91B6E6"/>
                </a:solidFill>
                <a:latin typeface="Arial"/>
                <a:cs typeface="Arial"/>
              </a:rPr>
              <a:t>•</a:t>
            </a:r>
            <a:r>
              <a:rPr sz="950" spc="-95" dirty="0">
                <a:solidFill>
                  <a:srgbClr val="91B6E6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4D4D4D"/>
                </a:solidFill>
                <a:latin typeface="Arial"/>
                <a:cs typeface="Arial"/>
              </a:rPr>
              <a:t>Low</a:t>
            </a:r>
            <a:endParaRPr sz="950">
              <a:latin typeface="Arial"/>
              <a:cs typeface="Arial"/>
            </a:endParaRPr>
          </a:p>
        </p:txBody>
      </p:sp>
      <p:sp>
        <p:nvSpPr>
          <p:cNvPr id="226" name="object 20">
            <a:extLst>
              <a:ext uri="{FF2B5EF4-FFF2-40B4-BE49-F238E27FC236}">
                <a16:creationId xmlns:a16="http://schemas.microsoft.com/office/drawing/2014/main" id="{156183D3-CE2B-E677-25C0-1FDC9EF4EE34}"/>
              </a:ext>
            </a:extLst>
          </p:cNvPr>
          <p:cNvSpPr txBox="1"/>
          <p:nvPr/>
        </p:nvSpPr>
        <p:spPr>
          <a:xfrm>
            <a:off x="496262" y="4821237"/>
            <a:ext cx="1612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-70" dirty="0">
                <a:solidFill>
                  <a:srgbClr val="2D2D2F"/>
                </a:solidFill>
                <a:latin typeface="Times New Roman"/>
                <a:cs typeface="Times New Roman"/>
              </a:rPr>
              <a:t>10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227" name="object 21">
            <a:extLst>
              <a:ext uri="{FF2B5EF4-FFF2-40B4-BE49-F238E27FC236}">
                <a16:creationId xmlns:a16="http://schemas.microsoft.com/office/drawing/2014/main" id="{BBD0FCC7-C9CA-19DA-3155-26256BD0221C}"/>
              </a:ext>
            </a:extLst>
          </p:cNvPr>
          <p:cNvSpPr txBox="1"/>
          <p:nvPr/>
        </p:nvSpPr>
        <p:spPr>
          <a:xfrm>
            <a:off x="3612802" y="2245999"/>
            <a:ext cx="1013460" cy="88658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 algn="ctr">
              <a:lnSpc>
                <a:spcPct val="100000"/>
              </a:lnSpc>
            </a:pPr>
            <a:r>
              <a:rPr lang="en-US" sz="2800" b="1" spc="215" dirty="0">
                <a:solidFill>
                  <a:srgbClr val="2D2D2F"/>
                </a:solidFill>
                <a:latin typeface="Arial"/>
                <a:cs typeface="Arial"/>
              </a:rPr>
              <a:t>54</a:t>
            </a:r>
            <a:r>
              <a:rPr sz="2800" b="1" spc="-250" dirty="0">
                <a:solidFill>
                  <a:srgbClr val="2D2D2F"/>
                </a:solidFill>
                <a:latin typeface="Arial"/>
                <a:cs typeface="Arial"/>
              </a:rPr>
              <a:t>%</a:t>
            </a:r>
            <a:endParaRPr sz="2800" dirty="0">
              <a:latin typeface="Arial"/>
              <a:cs typeface="Arial"/>
            </a:endParaRPr>
          </a:p>
          <a:p>
            <a:pPr marL="12700" marR="5080" indent="-17145" algn="ctr">
              <a:lnSpc>
                <a:spcPct val="117400"/>
              </a:lnSpc>
              <a:spcBef>
                <a:spcPts val="590"/>
              </a:spcBef>
            </a:pPr>
            <a:r>
              <a:rPr sz="1100" spc="95" dirty="0">
                <a:solidFill>
                  <a:srgbClr val="2D2D2F"/>
                </a:solidFill>
                <a:latin typeface="Arial"/>
                <a:cs typeface="Arial"/>
              </a:rPr>
              <a:t>SLA </a:t>
            </a:r>
            <a:r>
              <a:rPr sz="1100" spc="40" dirty="0">
                <a:solidFill>
                  <a:srgbClr val="2D2D2F"/>
                </a:solidFill>
                <a:latin typeface="Arial"/>
                <a:cs typeface="Arial"/>
              </a:rPr>
              <a:t>COMPLIANCE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29" name="object 23">
            <a:extLst>
              <a:ext uri="{FF2B5EF4-FFF2-40B4-BE49-F238E27FC236}">
                <a16:creationId xmlns:a16="http://schemas.microsoft.com/office/drawing/2014/main" id="{53979128-96A4-6CE8-B30E-37E53B6C06A4}"/>
              </a:ext>
            </a:extLst>
          </p:cNvPr>
          <p:cNvSpPr txBox="1"/>
          <p:nvPr/>
        </p:nvSpPr>
        <p:spPr>
          <a:xfrm>
            <a:off x="480497" y="4521996"/>
            <a:ext cx="1651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20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230" name="object 24">
            <a:extLst>
              <a:ext uri="{FF2B5EF4-FFF2-40B4-BE49-F238E27FC236}">
                <a16:creationId xmlns:a16="http://schemas.microsoft.com/office/drawing/2014/main" id="{6C164D71-78EF-4DB7-E91B-FD25A67C3007}"/>
              </a:ext>
            </a:extLst>
          </p:cNvPr>
          <p:cNvSpPr txBox="1"/>
          <p:nvPr/>
        </p:nvSpPr>
        <p:spPr>
          <a:xfrm>
            <a:off x="551442" y="5120478"/>
            <a:ext cx="977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70" dirty="0">
                <a:solidFill>
                  <a:srgbClr val="3D3B3D"/>
                </a:solidFill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1" name="object 25">
            <a:extLst>
              <a:ext uri="{FF2B5EF4-FFF2-40B4-BE49-F238E27FC236}">
                <a16:creationId xmlns:a16="http://schemas.microsoft.com/office/drawing/2014/main" id="{4FEDD8CB-2A6F-84B7-B025-ADEB7BB454E5}"/>
              </a:ext>
            </a:extLst>
          </p:cNvPr>
          <p:cNvSpPr txBox="1"/>
          <p:nvPr/>
        </p:nvSpPr>
        <p:spPr>
          <a:xfrm>
            <a:off x="803690" y="5235155"/>
            <a:ext cx="2644426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950" spc="-70" dirty="0">
                <a:solidFill>
                  <a:srgbClr val="2D2D2F"/>
                </a:solidFill>
                <a:latin typeface="Arial"/>
                <a:cs typeface="Arial"/>
              </a:rPr>
              <a:t>EDC</a:t>
            </a:r>
            <a:r>
              <a:rPr sz="95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sz="950" spc="-3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lang="en-US" sz="950" spc="-30" dirty="0">
                <a:solidFill>
                  <a:srgbClr val="3D3B3D"/>
                </a:solidFill>
                <a:latin typeface="Arial"/>
                <a:cs typeface="Arial"/>
              </a:rPr>
              <a:t>   </a:t>
            </a:r>
            <a:r>
              <a:rPr lang="en-US" sz="950" spc="-10" dirty="0">
                <a:solidFill>
                  <a:srgbClr val="69696B"/>
                </a:solidFill>
                <a:latin typeface="Arial"/>
                <a:cs typeface="Arial"/>
              </a:rPr>
              <a:t>MAAS</a:t>
            </a:r>
            <a:r>
              <a:rPr sz="950" spc="-3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lang="en-US" sz="950" spc="-30" dirty="0">
                <a:solidFill>
                  <a:srgbClr val="4D4D4D"/>
                </a:solidFill>
                <a:latin typeface="Arial"/>
                <a:cs typeface="Arial"/>
              </a:rPr>
              <a:t>   </a:t>
            </a:r>
            <a:r>
              <a:rPr lang="en-US" sz="950" spc="-5" dirty="0">
                <a:solidFill>
                  <a:srgbClr val="4D4D4D"/>
                </a:solidFill>
                <a:latin typeface="Arial"/>
                <a:cs typeface="Arial"/>
              </a:rPr>
              <a:t>QRIS   Payment   Connection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60" name="object 11">
            <a:extLst>
              <a:ext uri="{FF2B5EF4-FFF2-40B4-BE49-F238E27FC236}">
                <a16:creationId xmlns:a16="http://schemas.microsoft.com/office/drawing/2014/main" id="{2555CA62-E8A1-9B81-221D-727736E091EF}"/>
              </a:ext>
            </a:extLst>
          </p:cNvPr>
          <p:cNvSpPr txBox="1"/>
          <p:nvPr/>
        </p:nvSpPr>
        <p:spPr>
          <a:xfrm>
            <a:off x="3938495" y="4852969"/>
            <a:ext cx="87320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50" dirty="0">
                <a:solidFill>
                  <a:srgbClr val="2D2D2F"/>
                </a:solidFill>
                <a:latin typeface="Arial"/>
                <a:cs typeface="Arial"/>
              </a:rPr>
              <a:t>UAT</a:t>
            </a:r>
            <a:endParaRPr baseline="-25089" dirty="0">
              <a:latin typeface="Arial"/>
              <a:cs typeface="Arial"/>
            </a:endParaRPr>
          </a:p>
        </p:txBody>
      </p:sp>
      <p:sp>
        <p:nvSpPr>
          <p:cNvPr id="261" name="object 7">
            <a:extLst>
              <a:ext uri="{FF2B5EF4-FFF2-40B4-BE49-F238E27FC236}">
                <a16:creationId xmlns:a16="http://schemas.microsoft.com/office/drawing/2014/main" id="{B52A2C6F-091E-1735-6AE1-992B0D2C877F}"/>
              </a:ext>
            </a:extLst>
          </p:cNvPr>
          <p:cNvSpPr/>
          <p:nvPr/>
        </p:nvSpPr>
        <p:spPr>
          <a:xfrm>
            <a:off x="4897504" y="5154620"/>
            <a:ext cx="828935" cy="237269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7">
            <a:extLst>
              <a:ext uri="{FF2B5EF4-FFF2-40B4-BE49-F238E27FC236}">
                <a16:creationId xmlns:a16="http://schemas.microsoft.com/office/drawing/2014/main" id="{B9938B69-F261-B257-4C6F-23EBB1349AA4}"/>
              </a:ext>
            </a:extLst>
          </p:cNvPr>
          <p:cNvSpPr/>
          <p:nvPr/>
        </p:nvSpPr>
        <p:spPr>
          <a:xfrm>
            <a:off x="4882631" y="4174803"/>
            <a:ext cx="1651000" cy="235387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7">
            <a:extLst>
              <a:ext uri="{FF2B5EF4-FFF2-40B4-BE49-F238E27FC236}">
                <a16:creationId xmlns:a16="http://schemas.microsoft.com/office/drawing/2014/main" id="{D24AB6EA-1BDA-87B7-10A5-58730270C935}"/>
              </a:ext>
            </a:extLst>
          </p:cNvPr>
          <p:cNvSpPr/>
          <p:nvPr/>
        </p:nvSpPr>
        <p:spPr>
          <a:xfrm>
            <a:off x="4897504" y="4834626"/>
            <a:ext cx="1014491" cy="237269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7">
            <a:extLst>
              <a:ext uri="{FF2B5EF4-FFF2-40B4-BE49-F238E27FC236}">
                <a16:creationId xmlns:a16="http://schemas.microsoft.com/office/drawing/2014/main" id="{457AF1F0-F247-9C6F-11A4-7F005621A0D1}"/>
              </a:ext>
            </a:extLst>
          </p:cNvPr>
          <p:cNvSpPr/>
          <p:nvPr/>
        </p:nvSpPr>
        <p:spPr>
          <a:xfrm>
            <a:off x="4897503" y="4510856"/>
            <a:ext cx="1014491" cy="237269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7">
            <a:extLst>
              <a:ext uri="{FF2B5EF4-FFF2-40B4-BE49-F238E27FC236}">
                <a16:creationId xmlns:a16="http://schemas.microsoft.com/office/drawing/2014/main" id="{B090B607-9F1E-4B3F-B096-97C926CAA6B3}"/>
              </a:ext>
            </a:extLst>
          </p:cNvPr>
          <p:cNvSpPr/>
          <p:nvPr/>
        </p:nvSpPr>
        <p:spPr>
          <a:xfrm rot="16200000">
            <a:off x="627281" y="4730024"/>
            <a:ext cx="633343" cy="295173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7">
            <a:extLst>
              <a:ext uri="{FF2B5EF4-FFF2-40B4-BE49-F238E27FC236}">
                <a16:creationId xmlns:a16="http://schemas.microsoft.com/office/drawing/2014/main" id="{31A777DE-1A8E-8FB6-C90D-F01D6DB5A75E}"/>
              </a:ext>
            </a:extLst>
          </p:cNvPr>
          <p:cNvSpPr/>
          <p:nvPr/>
        </p:nvSpPr>
        <p:spPr>
          <a:xfrm rot="16200000">
            <a:off x="947767" y="4650762"/>
            <a:ext cx="813285" cy="295173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7">
            <a:extLst>
              <a:ext uri="{FF2B5EF4-FFF2-40B4-BE49-F238E27FC236}">
                <a16:creationId xmlns:a16="http://schemas.microsoft.com/office/drawing/2014/main" id="{FA91F870-B217-864C-D4C3-C5650A478229}"/>
              </a:ext>
            </a:extLst>
          </p:cNvPr>
          <p:cNvSpPr/>
          <p:nvPr/>
        </p:nvSpPr>
        <p:spPr>
          <a:xfrm rot="16200000" flipV="1">
            <a:off x="1457406" y="4691479"/>
            <a:ext cx="688714" cy="295174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7">
            <a:extLst>
              <a:ext uri="{FF2B5EF4-FFF2-40B4-BE49-F238E27FC236}">
                <a16:creationId xmlns:a16="http://schemas.microsoft.com/office/drawing/2014/main" id="{1ECE5A94-B070-176E-AA0D-660C1818F08C}"/>
              </a:ext>
            </a:extLst>
          </p:cNvPr>
          <p:cNvSpPr/>
          <p:nvPr/>
        </p:nvSpPr>
        <p:spPr>
          <a:xfrm rot="16200000" flipV="1">
            <a:off x="2066155" y="4853336"/>
            <a:ext cx="350785" cy="286585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7">
            <a:extLst>
              <a:ext uri="{FF2B5EF4-FFF2-40B4-BE49-F238E27FC236}">
                <a16:creationId xmlns:a16="http://schemas.microsoft.com/office/drawing/2014/main" id="{183CF1F5-1BC7-1EC5-8F40-024C9F1271B5}"/>
              </a:ext>
            </a:extLst>
          </p:cNvPr>
          <p:cNvSpPr/>
          <p:nvPr/>
        </p:nvSpPr>
        <p:spPr>
          <a:xfrm rot="16200000" flipV="1">
            <a:off x="2658275" y="4928871"/>
            <a:ext cx="205644" cy="295173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1">
            <a:extLst>
              <a:ext uri="{FF2B5EF4-FFF2-40B4-BE49-F238E27FC236}">
                <a16:creationId xmlns:a16="http://schemas.microsoft.com/office/drawing/2014/main" id="{24E1B0D7-F568-8972-5114-F499433337EF}"/>
              </a:ext>
            </a:extLst>
          </p:cNvPr>
          <p:cNvSpPr txBox="1"/>
          <p:nvPr/>
        </p:nvSpPr>
        <p:spPr>
          <a:xfrm>
            <a:off x="4945488" y="2245998"/>
            <a:ext cx="1013460" cy="68852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 algn="ctr">
              <a:lnSpc>
                <a:spcPct val="100000"/>
              </a:lnSpc>
            </a:pPr>
            <a:r>
              <a:rPr lang="en-US" sz="2800" b="1" spc="215" dirty="0">
                <a:solidFill>
                  <a:srgbClr val="FF0000"/>
                </a:solidFill>
                <a:latin typeface="Arial"/>
                <a:cs typeface="Arial"/>
              </a:rPr>
              <a:t>46</a:t>
            </a:r>
            <a:r>
              <a:rPr sz="2800" b="1" spc="-250" dirty="0">
                <a:solidFill>
                  <a:srgbClr val="FF0000"/>
                </a:solidFill>
                <a:latin typeface="Arial"/>
                <a:cs typeface="Arial"/>
              </a:rPr>
              <a:t>%</a:t>
            </a:r>
            <a:endParaRPr sz="2800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 marR="5080" indent="-17145" algn="ctr">
              <a:lnSpc>
                <a:spcPct val="117400"/>
              </a:lnSpc>
              <a:spcBef>
                <a:spcPts val="590"/>
              </a:spcBef>
            </a:pPr>
            <a:r>
              <a:rPr lang="en-US" sz="1100" spc="95" dirty="0">
                <a:solidFill>
                  <a:srgbClr val="2D2D2F"/>
                </a:solidFill>
                <a:latin typeface="Arial"/>
                <a:cs typeface="Arial"/>
              </a:rPr>
              <a:t>OUT OF SLA</a:t>
            </a:r>
            <a:endParaRPr sz="1100" dirty="0">
              <a:latin typeface="Arial"/>
              <a:cs typeface="Arial"/>
            </a:endParaRPr>
          </a:p>
        </p:txBody>
      </p:sp>
      <p:pic>
        <p:nvPicPr>
          <p:cNvPr id="272" name="Picture 271">
            <a:extLst>
              <a:ext uri="{FF2B5EF4-FFF2-40B4-BE49-F238E27FC236}">
                <a16:creationId xmlns:a16="http://schemas.microsoft.com/office/drawing/2014/main" id="{8C4CCAE4-E00D-0F13-27F6-080BC23588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1880" y="1504485"/>
            <a:ext cx="1968500" cy="1727200"/>
          </a:xfrm>
          <a:prstGeom prst="rect">
            <a:avLst/>
          </a:prstGeom>
        </p:spPr>
      </p:pic>
      <p:sp>
        <p:nvSpPr>
          <p:cNvPr id="273" name="object 23">
            <a:extLst>
              <a:ext uri="{FF2B5EF4-FFF2-40B4-BE49-F238E27FC236}">
                <a16:creationId xmlns:a16="http://schemas.microsoft.com/office/drawing/2014/main" id="{B22C444E-5665-6289-2104-0D3F0C7943B2}"/>
              </a:ext>
            </a:extLst>
          </p:cNvPr>
          <p:cNvSpPr txBox="1"/>
          <p:nvPr/>
        </p:nvSpPr>
        <p:spPr>
          <a:xfrm>
            <a:off x="480497" y="4267996"/>
            <a:ext cx="1651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3</a:t>
            </a:r>
            <a:r>
              <a:rPr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274" name="object 36">
            <a:extLst>
              <a:ext uri="{FF2B5EF4-FFF2-40B4-BE49-F238E27FC236}">
                <a16:creationId xmlns:a16="http://schemas.microsoft.com/office/drawing/2014/main" id="{680B8C29-E018-CEE6-186E-D6F405D7938D}"/>
              </a:ext>
            </a:extLst>
          </p:cNvPr>
          <p:cNvSpPr txBox="1"/>
          <p:nvPr/>
        </p:nvSpPr>
        <p:spPr>
          <a:xfrm>
            <a:off x="7555049" y="4530916"/>
            <a:ext cx="9131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-60" dirty="0">
                <a:solidFill>
                  <a:srgbClr val="2D2D2F"/>
                </a:solidFill>
                <a:latin typeface="Arial"/>
                <a:cs typeface="Arial"/>
              </a:rPr>
              <a:t>15607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75" name="object 37">
            <a:extLst>
              <a:ext uri="{FF2B5EF4-FFF2-40B4-BE49-F238E27FC236}">
                <a16:creationId xmlns:a16="http://schemas.microsoft.com/office/drawing/2014/main" id="{A05CDC5B-B1F7-18D8-F9AB-F51A923BF380}"/>
              </a:ext>
            </a:extLst>
          </p:cNvPr>
          <p:cNvSpPr txBox="1"/>
          <p:nvPr/>
        </p:nvSpPr>
        <p:spPr>
          <a:xfrm>
            <a:off x="7555049" y="4822283"/>
            <a:ext cx="95948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30" dirty="0">
                <a:solidFill>
                  <a:srgbClr val="3D3B3D"/>
                </a:solidFill>
                <a:latin typeface="Arial"/>
                <a:cs typeface="Arial"/>
              </a:rPr>
              <a:t>16005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76" name="object 41">
            <a:extLst>
              <a:ext uri="{FF2B5EF4-FFF2-40B4-BE49-F238E27FC236}">
                <a16:creationId xmlns:a16="http://schemas.microsoft.com/office/drawing/2014/main" id="{F9F4601C-0B65-B3F0-DC5E-BA15BEEB668E}"/>
              </a:ext>
            </a:extLst>
          </p:cNvPr>
          <p:cNvSpPr txBox="1"/>
          <p:nvPr/>
        </p:nvSpPr>
        <p:spPr>
          <a:xfrm>
            <a:off x="8387878" y="4530916"/>
            <a:ext cx="77343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65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1100" spc="30" dirty="0">
                <a:solidFill>
                  <a:srgbClr val="2D2D2F"/>
                </a:solidFill>
                <a:latin typeface="Arial"/>
                <a:cs typeface="Arial"/>
              </a:rPr>
              <a:t>n</a:t>
            </a:r>
            <a:r>
              <a:rPr sz="1100" spc="-20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2D2D2F"/>
                </a:solidFill>
                <a:latin typeface="Arial"/>
                <a:cs typeface="Arial"/>
              </a:rPr>
              <a:t>Progress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77" name="object 45">
            <a:extLst>
              <a:ext uri="{FF2B5EF4-FFF2-40B4-BE49-F238E27FC236}">
                <a16:creationId xmlns:a16="http://schemas.microsoft.com/office/drawing/2014/main" id="{C89A2AA0-39B9-917E-5669-979FAD525FAB}"/>
              </a:ext>
            </a:extLst>
          </p:cNvPr>
          <p:cNvSpPr txBox="1"/>
          <p:nvPr/>
        </p:nvSpPr>
        <p:spPr>
          <a:xfrm>
            <a:off x="8379995" y="4822283"/>
            <a:ext cx="384175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25" dirty="0">
                <a:solidFill>
                  <a:srgbClr val="2D2D2F"/>
                </a:solidFill>
                <a:latin typeface="Arial"/>
                <a:cs typeface="Arial"/>
              </a:rPr>
              <a:t>Open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8" name="object 48">
            <a:extLst>
              <a:ext uri="{FF2B5EF4-FFF2-40B4-BE49-F238E27FC236}">
                <a16:creationId xmlns:a16="http://schemas.microsoft.com/office/drawing/2014/main" id="{DCF231A8-C294-C5C5-30DC-3F254EAA5CDB}"/>
              </a:ext>
            </a:extLst>
          </p:cNvPr>
          <p:cNvSpPr txBox="1"/>
          <p:nvPr/>
        </p:nvSpPr>
        <p:spPr>
          <a:xfrm>
            <a:off x="8387878" y="5121524"/>
            <a:ext cx="77343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spc="-65" dirty="0">
                <a:solidFill>
                  <a:srgbClr val="4D4D4D"/>
                </a:solidFill>
                <a:latin typeface="Arial"/>
                <a:cs typeface="Arial"/>
              </a:rPr>
              <a:t>I</a:t>
            </a:r>
            <a:r>
              <a:rPr sz="1100" spc="30" dirty="0">
                <a:solidFill>
                  <a:srgbClr val="2D2D2F"/>
                </a:solidFill>
                <a:latin typeface="Arial"/>
                <a:cs typeface="Arial"/>
              </a:rPr>
              <a:t>n</a:t>
            </a:r>
            <a:r>
              <a:rPr sz="1100" spc="-20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sz="1100" spc="30" dirty="0">
                <a:solidFill>
                  <a:srgbClr val="2D2D2F"/>
                </a:solidFill>
                <a:latin typeface="Arial"/>
                <a:cs typeface="Arial"/>
              </a:rPr>
              <a:t>Progress</a:t>
            </a:r>
            <a:endParaRPr sz="1100">
              <a:latin typeface="Arial"/>
              <a:cs typeface="Arial"/>
            </a:endParaRPr>
          </a:p>
        </p:txBody>
      </p:sp>
      <p:sp>
        <p:nvSpPr>
          <p:cNvPr id="279" name="object 49">
            <a:extLst>
              <a:ext uri="{FF2B5EF4-FFF2-40B4-BE49-F238E27FC236}">
                <a16:creationId xmlns:a16="http://schemas.microsoft.com/office/drawing/2014/main" id="{C9271B0F-1958-EBAB-9425-D266EE8EB67C}"/>
              </a:ext>
            </a:extLst>
          </p:cNvPr>
          <p:cNvSpPr txBox="1"/>
          <p:nvPr/>
        </p:nvSpPr>
        <p:spPr>
          <a:xfrm>
            <a:off x="8387878" y="5412891"/>
            <a:ext cx="626110" cy="1651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dirty="0">
                <a:solidFill>
                  <a:srgbClr val="3D3B3D"/>
                </a:solidFill>
                <a:latin typeface="Arial"/>
                <a:cs typeface="Arial"/>
              </a:rPr>
              <a:t>Res</a:t>
            </a:r>
            <a:r>
              <a:rPr sz="1100" spc="35" dirty="0">
                <a:solidFill>
                  <a:srgbClr val="3D3B3D"/>
                </a:solidFill>
                <a:latin typeface="Arial"/>
                <a:cs typeface="Arial"/>
              </a:rPr>
              <a:t>o</a:t>
            </a:r>
            <a:r>
              <a:rPr sz="1100" spc="-65" dirty="0">
                <a:solidFill>
                  <a:srgbClr val="69696B"/>
                </a:solidFill>
                <a:latin typeface="Arial"/>
                <a:cs typeface="Arial"/>
              </a:rPr>
              <a:t>l</a:t>
            </a:r>
            <a:r>
              <a:rPr sz="1100" spc="50" dirty="0">
                <a:solidFill>
                  <a:srgbClr val="3D3B3D"/>
                </a:solidFill>
                <a:latin typeface="Arial"/>
                <a:cs typeface="Arial"/>
              </a:rPr>
              <a:t>ved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0" name="object 51">
            <a:extLst>
              <a:ext uri="{FF2B5EF4-FFF2-40B4-BE49-F238E27FC236}">
                <a16:creationId xmlns:a16="http://schemas.microsoft.com/office/drawing/2014/main" id="{3AFE68CF-B87F-EDA5-30AC-52554BFE8598}"/>
              </a:ext>
            </a:extLst>
          </p:cNvPr>
          <p:cNvSpPr txBox="1"/>
          <p:nvPr/>
        </p:nvSpPr>
        <p:spPr>
          <a:xfrm>
            <a:off x="7549230" y="3963105"/>
            <a:ext cx="2404397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25" dirty="0">
                <a:solidFill>
                  <a:srgbClr val="2D2D2F"/>
                </a:solidFill>
                <a:latin typeface="Arial"/>
                <a:cs typeface="Arial"/>
              </a:rPr>
              <a:t>CRIT</a:t>
            </a:r>
            <a:r>
              <a:rPr sz="1100" b="1" spc="35" dirty="0">
                <a:solidFill>
                  <a:srgbClr val="2D2D2F"/>
                </a:solidFill>
                <a:latin typeface="Arial"/>
                <a:cs typeface="Arial"/>
              </a:rPr>
              <a:t>I</a:t>
            </a:r>
            <a:r>
              <a:rPr sz="1100" b="1" spc="40" dirty="0">
                <a:solidFill>
                  <a:srgbClr val="2D2D2F"/>
                </a:solidFill>
                <a:latin typeface="Arial"/>
                <a:cs typeface="Arial"/>
              </a:rPr>
              <a:t>CAL</a:t>
            </a:r>
            <a:r>
              <a:rPr lang="en-US" sz="1100" b="1" spc="40" dirty="0">
                <a:solidFill>
                  <a:srgbClr val="2D2D2F"/>
                </a:solidFill>
                <a:latin typeface="Arial"/>
                <a:cs typeface="Arial"/>
              </a:rPr>
              <a:t>/HIGH</a:t>
            </a:r>
            <a:r>
              <a:rPr sz="1100" b="1" spc="75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25" dirty="0">
                <a:solidFill>
                  <a:srgbClr val="1C1A1D"/>
                </a:solidFill>
                <a:latin typeface="Arial"/>
                <a:cs typeface="Arial"/>
              </a:rPr>
              <a:t>NCI</a:t>
            </a:r>
            <a:r>
              <a:rPr sz="1100" b="1" spc="60" dirty="0">
                <a:solidFill>
                  <a:srgbClr val="1C1A1D"/>
                </a:solidFill>
                <a:latin typeface="Arial"/>
                <a:cs typeface="Arial"/>
              </a:rPr>
              <a:t>D</a:t>
            </a:r>
            <a:r>
              <a:rPr sz="1100" b="1" spc="25" dirty="0">
                <a:solidFill>
                  <a:srgbClr val="3D3B3D"/>
                </a:solidFill>
                <a:latin typeface="Arial"/>
                <a:cs typeface="Arial"/>
              </a:rPr>
              <a:t>ENTS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81" name="object 52">
            <a:extLst>
              <a:ext uri="{FF2B5EF4-FFF2-40B4-BE49-F238E27FC236}">
                <a16:creationId xmlns:a16="http://schemas.microsoft.com/office/drawing/2014/main" id="{23C9A931-DB19-2F93-FF9D-6633FCD03142}"/>
              </a:ext>
            </a:extLst>
          </p:cNvPr>
          <p:cNvSpPr txBox="1"/>
          <p:nvPr/>
        </p:nvSpPr>
        <p:spPr>
          <a:xfrm>
            <a:off x="7555049" y="5121524"/>
            <a:ext cx="8667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40" dirty="0">
                <a:solidFill>
                  <a:srgbClr val="2D2D2F"/>
                </a:solidFill>
                <a:latin typeface="Arial"/>
                <a:cs typeface="Arial"/>
              </a:rPr>
              <a:t>15234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2" name="object 53">
            <a:extLst>
              <a:ext uri="{FF2B5EF4-FFF2-40B4-BE49-F238E27FC236}">
                <a16:creationId xmlns:a16="http://schemas.microsoft.com/office/drawing/2014/main" id="{61C3EB2D-D067-7D4D-3A22-4CF04A3D26F1}"/>
              </a:ext>
            </a:extLst>
          </p:cNvPr>
          <p:cNvSpPr txBox="1"/>
          <p:nvPr/>
        </p:nvSpPr>
        <p:spPr>
          <a:xfrm>
            <a:off x="7555049" y="5412891"/>
            <a:ext cx="122809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45" dirty="0">
                <a:solidFill>
                  <a:srgbClr val="3D3B3D"/>
                </a:solidFill>
                <a:latin typeface="Arial"/>
                <a:cs typeface="Arial"/>
              </a:rPr>
              <a:t>14456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3" name="object 41">
            <a:extLst>
              <a:ext uri="{FF2B5EF4-FFF2-40B4-BE49-F238E27FC236}">
                <a16:creationId xmlns:a16="http://schemas.microsoft.com/office/drawing/2014/main" id="{0C5C83CD-D9D4-520B-517C-D67FA3763511}"/>
              </a:ext>
            </a:extLst>
          </p:cNvPr>
          <p:cNvSpPr txBox="1"/>
          <p:nvPr/>
        </p:nvSpPr>
        <p:spPr>
          <a:xfrm>
            <a:off x="9427051" y="4544590"/>
            <a:ext cx="7734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dirty="0">
                <a:latin typeface="Arial"/>
                <a:cs typeface="Arial"/>
              </a:rPr>
              <a:t>Critical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4" name="object 45">
            <a:extLst>
              <a:ext uri="{FF2B5EF4-FFF2-40B4-BE49-F238E27FC236}">
                <a16:creationId xmlns:a16="http://schemas.microsoft.com/office/drawing/2014/main" id="{698BDF4A-44FD-4F40-1F04-7CA906FC9348}"/>
              </a:ext>
            </a:extLst>
          </p:cNvPr>
          <p:cNvSpPr txBox="1"/>
          <p:nvPr/>
        </p:nvSpPr>
        <p:spPr>
          <a:xfrm>
            <a:off x="9419168" y="4835957"/>
            <a:ext cx="3841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25" dirty="0">
                <a:solidFill>
                  <a:srgbClr val="2D2D2F"/>
                </a:solidFill>
                <a:latin typeface="Arial"/>
                <a:cs typeface="Arial"/>
              </a:rPr>
              <a:t>High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5" name="object 48">
            <a:extLst>
              <a:ext uri="{FF2B5EF4-FFF2-40B4-BE49-F238E27FC236}">
                <a16:creationId xmlns:a16="http://schemas.microsoft.com/office/drawing/2014/main" id="{4FEE6D90-5C3A-DC56-08DA-4D9628AA8169}"/>
              </a:ext>
            </a:extLst>
          </p:cNvPr>
          <p:cNvSpPr txBox="1"/>
          <p:nvPr/>
        </p:nvSpPr>
        <p:spPr>
          <a:xfrm>
            <a:off x="9427051" y="5135198"/>
            <a:ext cx="7734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-65" dirty="0">
                <a:solidFill>
                  <a:srgbClr val="4D4D4D"/>
                </a:solidFill>
                <a:latin typeface="Arial"/>
                <a:cs typeface="Arial"/>
              </a:rPr>
              <a:t>High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6" name="object 49">
            <a:extLst>
              <a:ext uri="{FF2B5EF4-FFF2-40B4-BE49-F238E27FC236}">
                <a16:creationId xmlns:a16="http://schemas.microsoft.com/office/drawing/2014/main" id="{4FC2E460-615F-6633-C728-C763B4A90D78}"/>
              </a:ext>
            </a:extLst>
          </p:cNvPr>
          <p:cNvSpPr txBox="1"/>
          <p:nvPr/>
        </p:nvSpPr>
        <p:spPr>
          <a:xfrm>
            <a:off x="9427051" y="5426565"/>
            <a:ext cx="6261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dirty="0">
                <a:solidFill>
                  <a:srgbClr val="3D3B3D"/>
                </a:solidFill>
                <a:latin typeface="Arial"/>
                <a:cs typeface="Arial"/>
              </a:rPr>
              <a:t>High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87" name="object 36">
            <a:extLst>
              <a:ext uri="{FF2B5EF4-FFF2-40B4-BE49-F238E27FC236}">
                <a16:creationId xmlns:a16="http://schemas.microsoft.com/office/drawing/2014/main" id="{47500EB0-D379-EA63-B68B-EFFFB757B2FD}"/>
              </a:ext>
            </a:extLst>
          </p:cNvPr>
          <p:cNvSpPr txBox="1"/>
          <p:nvPr/>
        </p:nvSpPr>
        <p:spPr>
          <a:xfrm>
            <a:off x="7555049" y="4239549"/>
            <a:ext cx="9131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60" dirty="0">
                <a:solidFill>
                  <a:srgbClr val="2D2D2F"/>
                </a:solidFill>
                <a:latin typeface="Arial"/>
                <a:cs typeface="Arial"/>
              </a:rPr>
              <a:t>#Ticket No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88" name="object 41">
            <a:extLst>
              <a:ext uri="{FF2B5EF4-FFF2-40B4-BE49-F238E27FC236}">
                <a16:creationId xmlns:a16="http://schemas.microsoft.com/office/drawing/2014/main" id="{E0783E69-15D8-E9E4-8CC2-4084E0AB187C}"/>
              </a:ext>
            </a:extLst>
          </p:cNvPr>
          <p:cNvSpPr txBox="1"/>
          <p:nvPr/>
        </p:nvSpPr>
        <p:spPr>
          <a:xfrm>
            <a:off x="8390359" y="4227834"/>
            <a:ext cx="7734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65" dirty="0">
                <a:solidFill>
                  <a:srgbClr val="4D4D4D"/>
                </a:solidFill>
                <a:latin typeface="Arial"/>
                <a:cs typeface="Arial"/>
              </a:rPr>
              <a:t>Status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89" name="object 41">
            <a:extLst>
              <a:ext uri="{FF2B5EF4-FFF2-40B4-BE49-F238E27FC236}">
                <a16:creationId xmlns:a16="http://schemas.microsoft.com/office/drawing/2014/main" id="{C0DF64FE-3B42-A3BA-F3E6-D29339A3024D}"/>
              </a:ext>
            </a:extLst>
          </p:cNvPr>
          <p:cNvSpPr txBox="1"/>
          <p:nvPr/>
        </p:nvSpPr>
        <p:spPr>
          <a:xfrm>
            <a:off x="9405599" y="4239549"/>
            <a:ext cx="7734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65" dirty="0">
                <a:solidFill>
                  <a:srgbClr val="4D4D4D"/>
                </a:solidFill>
                <a:latin typeface="Arial"/>
                <a:cs typeface="Arial"/>
              </a:rPr>
              <a:t>Priority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90" name="object 41">
            <a:extLst>
              <a:ext uri="{FF2B5EF4-FFF2-40B4-BE49-F238E27FC236}">
                <a16:creationId xmlns:a16="http://schemas.microsoft.com/office/drawing/2014/main" id="{B07D7EDC-D65D-D622-092A-F983244165C0}"/>
              </a:ext>
            </a:extLst>
          </p:cNvPr>
          <p:cNvSpPr txBox="1"/>
          <p:nvPr/>
        </p:nvSpPr>
        <p:spPr>
          <a:xfrm>
            <a:off x="10200610" y="4530916"/>
            <a:ext cx="7734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dirty="0">
                <a:latin typeface="Arial"/>
                <a:cs typeface="Arial"/>
              </a:rPr>
              <a:t>6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1" name="object 45">
            <a:extLst>
              <a:ext uri="{FF2B5EF4-FFF2-40B4-BE49-F238E27FC236}">
                <a16:creationId xmlns:a16="http://schemas.microsoft.com/office/drawing/2014/main" id="{CF6C44C1-702B-34CF-408F-B6ECCEE893FA}"/>
              </a:ext>
            </a:extLst>
          </p:cNvPr>
          <p:cNvSpPr txBox="1"/>
          <p:nvPr/>
        </p:nvSpPr>
        <p:spPr>
          <a:xfrm>
            <a:off x="10192727" y="4822283"/>
            <a:ext cx="38417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25" dirty="0">
                <a:solidFill>
                  <a:srgbClr val="2D2D2F"/>
                </a:solidFill>
                <a:latin typeface="Arial"/>
                <a:cs typeface="Arial"/>
              </a:rPr>
              <a:t>17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2" name="object 48">
            <a:extLst>
              <a:ext uri="{FF2B5EF4-FFF2-40B4-BE49-F238E27FC236}">
                <a16:creationId xmlns:a16="http://schemas.microsoft.com/office/drawing/2014/main" id="{CC93DACB-93E7-2B09-5D6C-72F0AC698F3B}"/>
              </a:ext>
            </a:extLst>
          </p:cNvPr>
          <p:cNvSpPr txBox="1"/>
          <p:nvPr/>
        </p:nvSpPr>
        <p:spPr>
          <a:xfrm>
            <a:off x="10200610" y="5121524"/>
            <a:ext cx="7734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-65" dirty="0">
                <a:solidFill>
                  <a:srgbClr val="4D4D4D"/>
                </a:solidFill>
                <a:latin typeface="Arial"/>
                <a:cs typeface="Arial"/>
              </a:rPr>
              <a:t>16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3" name="object 49">
            <a:extLst>
              <a:ext uri="{FF2B5EF4-FFF2-40B4-BE49-F238E27FC236}">
                <a16:creationId xmlns:a16="http://schemas.microsoft.com/office/drawing/2014/main" id="{2DBD5E77-3FF5-0529-9319-8212021A3043}"/>
              </a:ext>
            </a:extLst>
          </p:cNvPr>
          <p:cNvSpPr txBox="1"/>
          <p:nvPr/>
        </p:nvSpPr>
        <p:spPr>
          <a:xfrm>
            <a:off x="10200610" y="5412891"/>
            <a:ext cx="6261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dirty="0">
                <a:latin typeface="Arial"/>
                <a:cs typeface="Arial"/>
              </a:rPr>
              <a:t>15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94" name="object 41">
            <a:extLst>
              <a:ext uri="{FF2B5EF4-FFF2-40B4-BE49-F238E27FC236}">
                <a16:creationId xmlns:a16="http://schemas.microsoft.com/office/drawing/2014/main" id="{12E35702-8102-56B0-0896-129245E5438D}"/>
              </a:ext>
            </a:extLst>
          </p:cNvPr>
          <p:cNvSpPr txBox="1"/>
          <p:nvPr/>
        </p:nvSpPr>
        <p:spPr>
          <a:xfrm>
            <a:off x="10179158" y="4225875"/>
            <a:ext cx="7734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-65" dirty="0">
                <a:solidFill>
                  <a:srgbClr val="4D4D4D"/>
                </a:solidFill>
                <a:latin typeface="Arial"/>
                <a:cs typeface="Arial"/>
              </a:rPr>
              <a:t>Aging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6285A56B-2BC2-44A9-219C-4D180813B9EF}"/>
              </a:ext>
            </a:extLst>
          </p:cNvPr>
          <p:cNvSpPr txBox="1"/>
          <p:nvPr/>
        </p:nvSpPr>
        <p:spPr>
          <a:xfrm>
            <a:off x="298371" y="1791346"/>
            <a:ext cx="271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6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45" dirty="0">
                <a:solidFill>
                  <a:srgbClr val="1C1A1D"/>
                </a:solidFill>
                <a:latin typeface="Arial"/>
                <a:cs typeface="Arial"/>
              </a:rPr>
              <a:t>NC</a:t>
            </a:r>
            <a:r>
              <a:rPr sz="1100" b="1" spc="3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1C1A1D"/>
                </a:solidFill>
                <a:latin typeface="Arial"/>
                <a:cs typeface="Arial"/>
              </a:rPr>
              <a:t>DENT</a:t>
            </a:r>
            <a:r>
              <a:rPr lang="en-US" sz="1100" b="1" spc="20" dirty="0">
                <a:solidFill>
                  <a:srgbClr val="1C1A1D"/>
                </a:solidFill>
                <a:latin typeface="Arial"/>
                <a:cs typeface="Arial"/>
              </a:rPr>
              <a:t>S/PROBLEM/SR PATCHING</a:t>
            </a:r>
            <a:endParaRPr sz="1100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51136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663B9-2B5C-BC19-A32B-B1FC15C13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E2DAC-8B0C-4CB1-C5FA-DB09C11C6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Draft Mockup – Incident Management</a:t>
            </a:r>
          </a:p>
        </p:txBody>
      </p:sp>
      <p:sp>
        <p:nvSpPr>
          <p:cNvPr id="210" name="object 2">
            <a:extLst>
              <a:ext uri="{FF2B5EF4-FFF2-40B4-BE49-F238E27FC236}">
                <a16:creationId xmlns:a16="http://schemas.microsoft.com/office/drawing/2014/main" id="{2590D7B8-7F3C-6FBA-AC82-CC3118DBE0E2}"/>
              </a:ext>
            </a:extLst>
          </p:cNvPr>
          <p:cNvSpPr txBox="1"/>
          <p:nvPr/>
        </p:nvSpPr>
        <p:spPr>
          <a:xfrm>
            <a:off x="280237" y="850530"/>
            <a:ext cx="8251782" cy="346249"/>
          </a:xfrm>
          <a:prstGeom prst="rect">
            <a:avLst/>
          </a:prstGeom>
          <a:solidFill>
            <a:srgbClr val="343A44"/>
          </a:solidFill>
        </p:spPr>
        <p:txBody>
          <a:bodyPr vert="horz" wrap="square" lIns="0" tIns="0" rIns="0" bIns="0" rtlCol="0">
            <a:spAutoFit/>
          </a:bodyPr>
          <a:lstStyle/>
          <a:p>
            <a:pPr marL="19050">
              <a:lnSpc>
                <a:spcPct val="100000"/>
              </a:lnSpc>
            </a:pPr>
            <a:r>
              <a:rPr sz="2250" b="1" spc="-75" dirty="0">
                <a:solidFill>
                  <a:srgbClr val="F7FBFB"/>
                </a:solidFill>
                <a:latin typeface="Arial"/>
                <a:cs typeface="Arial"/>
              </a:rPr>
              <a:t>I</a:t>
            </a:r>
            <a:r>
              <a:rPr sz="2250" b="1" spc="-25" dirty="0">
                <a:solidFill>
                  <a:srgbClr val="F7FBFB"/>
                </a:solidFill>
                <a:latin typeface="Arial"/>
                <a:cs typeface="Arial"/>
              </a:rPr>
              <a:t>n</a:t>
            </a:r>
            <a:r>
              <a:rPr sz="2250" b="1" spc="60" dirty="0">
                <a:solidFill>
                  <a:srgbClr val="F7FBFB"/>
                </a:solidFill>
                <a:latin typeface="Arial"/>
                <a:cs typeface="Arial"/>
              </a:rPr>
              <a:t>c</a:t>
            </a:r>
            <a:r>
              <a:rPr sz="2250" b="1" spc="-145" dirty="0">
                <a:solidFill>
                  <a:srgbClr val="F7FBFB"/>
                </a:solidFill>
                <a:latin typeface="Arial"/>
                <a:cs typeface="Arial"/>
              </a:rPr>
              <a:t>i</a:t>
            </a:r>
            <a:r>
              <a:rPr sz="2250" b="1" spc="80" dirty="0">
                <a:solidFill>
                  <a:srgbClr val="F7FBFB"/>
                </a:solidFill>
                <a:latin typeface="Arial"/>
                <a:cs typeface="Arial"/>
              </a:rPr>
              <a:t>d</a:t>
            </a:r>
            <a:r>
              <a:rPr sz="2250" b="1" spc="60" dirty="0">
                <a:solidFill>
                  <a:srgbClr val="F7FBFB"/>
                </a:solidFill>
                <a:latin typeface="Arial"/>
                <a:cs typeface="Arial"/>
              </a:rPr>
              <a:t>e</a:t>
            </a:r>
            <a:r>
              <a:rPr sz="2250" b="1" spc="30" dirty="0">
                <a:solidFill>
                  <a:srgbClr val="F7FBFB"/>
                </a:solidFill>
                <a:latin typeface="Arial"/>
                <a:cs typeface="Arial"/>
              </a:rPr>
              <a:t>nt</a:t>
            </a:r>
            <a:r>
              <a:rPr sz="2250" b="1" spc="20" dirty="0">
                <a:solidFill>
                  <a:srgbClr val="F7FBFB"/>
                </a:solidFill>
                <a:latin typeface="Arial"/>
                <a:cs typeface="Arial"/>
              </a:rPr>
              <a:t> </a:t>
            </a:r>
            <a:r>
              <a:rPr sz="2250" b="1" spc="75" dirty="0">
                <a:solidFill>
                  <a:srgbClr val="F7FBFB"/>
                </a:solidFill>
                <a:latin typeface="Arial"/>
                <a:cs typeface="Arial"/>
              </a:rPr>
              <a:t>Ma</a:t>
            </a:r>
            <a:r>
              <a:rPr sz="2250" b="1" spc="-75" dirty="0">
                <a:solidFill>
                  <a:srgbClr val="F7FBFB"/>
                </a:solidFill>
                <a:latin typeface="Arial"/>
                <a:cs typeface="Arial"/>
              </a:rPr>
              <a:t>n</a:t>
            </a:r>
            <a:r>
              <a:rPr sz="2250" b="1" spc="75" dirty="0">
                <a:solidFill>
                  <a:srgbClr val="F7FBFB"/>
                </a:solidFill>
                <a:latin typeface="Arial"/>
                <a:cs typeface="Arial"/>
              </a:rPr>
              <a:t>a</a:t>
            </a:r>
            <a:r>
              <a:rPr sz="2250" b="1" dirty="0">
                <a:solidFill>
                  <a:srgbClr val="F7FBFB"/>
                </a:solidFill>
                <a:latin typeface="Arial"/>
                <a:cs typeface="Arial"/>
              </a:rPr>
              <a:t>g</a:t>
            </a:r>
            <a:r>
              <a:rPr sz="2250" b="1" spc="110" dirty="0">
                <a:solidFill>
                  <a:srgbClr val="F7FBFB"/>
                </a:solidFill>
                <a:latin typeface="Arial"/>
                <a:cs typeface="Arial"/>
              </a:rPr>
              <a:t>e</a:t>
            </a:r>
            <a:r>
              <a:rPr sz="2250" b="1" spc="45" dirty="0">
                <a:solidFill>
                  <a:srgbClr val="F7FBFB"/>
                </a:solidFill>
                <a:latin typeface="Arial"/>
                <a:cs typeface="Arial"/>
              </a:rPr>
              <a:t>m</a:t>
            </a:r>
            <a:r>
              <a:rPr sz="2250" b="1" spc="110" dirty="0">
                <a:solidFill>
                  <a:srgbClr val="F7FBFB"/>
                </a:solidFill>
                <a:latin typeface="Arial"/>
                <a:cs typeface="Arial"/>
              </a:rPr>
              <a:t>e</a:t>
            </a:r>
            <a:r>
              <a:rPr sz="2250" b="1" spc="-145" dirty="0">
                <a:solidFill>
                  <a:srgbClr val="F7FBFB"/>
                </a:solidFill>
                <a:latin typeface="Arial"/>
                <a:cs typeface="Arial"/>
              </a:rPr>
              <a:t>n</a:t>
            </a:r>
            <a:r>
              <a:rPr sz="2250" b="1" spc="114" dirty="0">
                <a:solidFill>
                  <a:srgbClr val="F7FBFB"/>
                </a:solidFill>
                <a:latin typeface="Arial"/>
                <a:cs typeface="Arial"/>
              </a:rPr>
              <a:t>t</a:t>
            </a:r>
            <a:r>
              <a:rPr lang="en-US" sz="2250" b="1" spc="114" dirty="0">
                <a:solidFill>
                  <a:srgbClr val="F7FBFB"/>
                </a:solidFill>
                <a:latin typeface="Arial"/>
                <a:cs typeface="Arial"/>
              </a:rPr>
              <a:t> – Internal/External/Member Bank </a:t>
            </a:r>
            <a:endParaRPr sz="2250" dirty="0">
              <a:latin typeface="Arial"/>
              <a:cs typeface="Arial"/>
            </a:endParaRPr>
          </a:p>
        </p:txBody>
      </p:sp>
      <p:sp>
        <p:nvSpPr>
          <p:cNvPr id="211" name="object 3">
            <a:extLst>
              <a:ext uri="{FF2B5EF4-FFF2-40B4-BE49-F238E27FC236}">
                <a16:creationId xmlns:a16="http://schemas.microsoft.com/office/drawing/2014/main" id="{544ACE00-B9B7-159C-FE99-1308094673DC}"/>
              </a:ext>
            </a:extLst>
          </p:cNvPr>
          <p:cNvSpPr txBox="1"/>
          <p:nvPr/>
        </p:nvSpPr>
        <p:spPr>
          <a:xfrm>
            <a:off x="3874987" y="4371433"/>
            <a:ext cx="262795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-5" dirty="0">
                <a:solidFill>
                  <a:srgbClr val="2D2D2F"/>
                </a:solidFill>
                <a:latin typeface="Arial"/>
                <a:cs typeface="Arial"/>
              </a:rPr>
              <a:t>I</a:t>
            </a:r>
            <a:r>
              <a:rPr sz="1100" b="1" spc="60" dirty="0">
                <a:solidFill>
                  <a:srgbClr val="2D2D2F"/>
                </a:solidFill>
                <a:latin typeface="Arial"/>
                <a:cs typeface="Arial"/>
              </a:rPr>
              <a:t>N</a:t>
            </a:r>
            <a:r>
              <a:rPr sz="1100" b="1" spc="75" dirty="0">
                <a:solidFill>
                  <a:srgbClr val="2D2D2F"/>
                </a:solidFill>
                <a:latin typeface="Arial"/>
                <a:cs typeface="Arial"/>
              </a:rPr>
              <a:t>C</a:t>
            </a:r>
            <a:r>
              <a:rPr sz="1100" b="1" spc="-5" dirty="0"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1C1A1D"/>
                </a:solidFill>
                <a:latin typeface="Arial"/>
                <a:cs typeface="Arial"/>
              </a:rPr>
              <a:t>DENTS</a:t>
            </a:r>
            <a:r>
              <a:rPr sz="1100" b="1" spc="4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-30" dirty="0">
                <a:solidFill>
                  <a:srgbClr val="1C1A1D"/>
                </a:solidFill>
                <a:latin typeface="Arial"/>
                <a:cs typeface="Arial"/>
              </a:rPr>
              <a:t>BY</a:t>
            </a:r>
            <a:r>
              <a:rPr sz="1100" b="1" spc="7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2D2D2F"/>
                </a:solidFill>
                <a:latin typeface="Arial"/>
                <a:cs typeface="Arial"/>
              </a:rPr>
              <a:t>STATUS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12" name="object 4">
            <a:extLst>
              <a:ext uri="{FF2B5EF4-FFF2-40B4-BE49-F238E27FC236}">
                <a16:creationId xmlns:a16="http://schemas.microsoft.com/office/drawing/2014/main" id="{2C99523F-0FEF-4E92-2F60-4660160875FF}"/>
              </a:ext>
            </a:extLst>
          </p:cNvPr>
          <p:cNvSpPr txBox="1"/>
          <p:nvPr/>
        </p:nvSpPr>
        <p:spPr>
          <a:xfrm>
            <a:off x="8188304" y="1656260"/>
            <a:ext cx="1807845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6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45" dirty="0">
                <a:solidFill>
                  <a:srgbClr val="1C1A1D"/>
                </a:solidFill>
                <a:latin typeface="Arial"/>
                <a:cs typeface="Arial"/>
              </a:rPr>
              <a:t>NC</a:t>
            </a:r>
            <a:r>
              <a:rPr sz="1100" b="1" spc="3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1C1A1D"/>
                </a:solidFill>
                <a:latin typeface="Arial"/>
                <a:cs typeface="Arial"/>
              </a:rPr>
              <a:t>DENTS</a:t>
            </a:r>
            <a:r>
              <a:rPr sz="1100" b="1" spc="4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1C1A1D"/>
                </a:solidFill>
                <a:latin typeface="Arial"/>
                <a:cs typeface="Arial"/>
              </a:rPr>
              <a:t>BY</a:t>
            </a:r>
            <a:r>
              <a:rPr sz="1100" b="1" spc="6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5" dirty="0">
                <a:solidFill>
                  <a:srgbClr val="2D2D2F"/>
                </a:solidFill>
                <a:latin typeface="Arial"/>
                <a:cs typeface="Arial"/>
              </a:rPr>
              <a:t>SEVER</a:t>
            </a:r>
            <a:r>
              <a:rPr sz="1100" b="1" spc="-15" dirty="0">
                <a:solidFill>
                  <a:srgbClr val="2D2D2F"/>
                </a:solidFill>
                <a:latin typeface="Arial"/>
                <a:cs typeface="Arial"/>
              </a:rPr>
              <a:t>I</a:t>
            </a:r>
            <a:r>
              <a:rPr sz="1100" b="1" spc="5" dirty="0">
                <a:solidFill>
                  <a:srgbClr val="2D2D2F"/>
                </a:solidFill>
                <a:latin typeface="Arial"/>
                <a:cs typeface="Arial"/>
              </a:rPr>
              <a:t>TY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13" name="object 5">
            <a:extLst>
              <a:ext uri="{FF2B5EF4-FFF2-40B4-BE49-F238E27FC236}">
                <a16:creationId xmlns:a16="http://schemas.microsoft.com/office/drawing/2014/main" id="{0F3B7013-6281-166E-1E9E-0D72F68C6C31}"/>
              </a:ext>
            </a:extLst>
          </p:cNvPr>
          <p:cNvSpPr txBox="1"/>
          <p:nvPr/>
        </p:nvSpPr>
        <p:spPr>
          <a:xfrm>
            <a:off x="3885217" y="5560201"/>
            <a:ext cx="46863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spc="5" dirty="0">
                <a:solidFill>
                  <a:srgbClr val="3D3B3D"/>
                </a:solidFill>
                <a:latin typeface="Arial"/>
                <a:cs typeface="Arial"/>
              </a:rPr>
              <a:t>UAT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216" name="object 8">
            <a:extLst>
              <a:ext uri="{FF2B5EF4-FFF2-40B4-BE49-F238E27FC236}">
                <a16:creationId xmlns:a16="http://schemas.microsoft.com/office/drawing/2014/main" id="{05F5934A-CF23-F45A-621A-95BCC9222288}"/>
              </a:ext>
            </a:extLst>
          </p:cNvPr>
          <p:cNvSpPr txBox="1"/>
          <p:nvPr/>
        </p:nvSpPr>
        <p:spPr>
          <a:xfrm>
            <a:off x="310630" y="1921956"/>
            <a:ext cx="1379855" cy="9387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4000" b="1" spc="-215" dirty="0">
                <a:solidFill>
                  <a:srgbClr val="3D3B3D"/>
                </a:solidFill>
                <a:latin typeface="Arial"/>
                <a:cs typeface="Arial"/>
              </a:rPr>
              <a:t>1</a:t>
            </a:r>
            <a:r>
              <a:rPr sz="4000" b="1" spc="145" dirty="0">
                <a:solidFill>
                  <a:srgbClr val="3D3B3D"/>
                </a:solidFill>
                <a:latin typeface="Arial"/>
                <a:cs typeface="Arial"/>
              </a:rPr>
              <a:t>25</a:t>
            </a:r>
            <a:endParaRPr sz="4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sz="1400" spc="-120" dirty="0">
                <a:solidFill>
                  <a:srgbClr val="1C1A1D"/>
                </a:solidFill>
                <a:latin typeface="Arial"/>
                <a:cs typeface="Arial"/>
              </a:rPr>
              <a:t>T</a:t>
            </a:r>
            <a:r>
              <a:rPr sz="1400" spc="20" dirty="0">
                <a:solidFill>
                  <a:srgbClr val="1C1A1D"/>
                </a:solidFill>
                <a:latin typeface="Arial"/>
                <a:cs typeface="Arial"/>
              </a:rPr>
              <a:t>ot</a:t>
            </a:r>
            <a:r>
              <a:rPr sz="1400" spc="130" dirty="0">
                <a:solidFill>
                  <a:srgbClr val="1C1A1D"/>
                </a:solidFill>
                <a:latin typeface="Arial"/>
                <a:cs typeface="Arial"/>
              </a:rPr>
              <a:t>a</a:t>
            </a:r>
            <a:r>
              <a:rPr sz="1400" spc="105" dirty="0">
                <a:latin typeface="Arial"/>
                <a:cs typeface="Arial"/>
              </a:rPr>
              <a:t>l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lang="en-US" sz="1400" spc="-80" dirty="0">
                <a:solidFill>
                  <a:srgbClr val="2D2D2F"/>
                </a:solidFill>
                <a:latin typeface="Arial"/>
                <a:cs typeface="Arial"/>
              </a:rPr>
              <a:t>Tickets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217" name="object 9">
            <a:extLst>
              <a:ext uri="{FF2B5EF4-FFF2-40B4-BE49-F238E27FC236}">
                <a16:creationId xmlns:a16="http://schemas.microsoft.com/office/drawing/2014/main" id="{06D1F186-C43F-0E08-B597-5352818EEB1C}"/>
              </a:ext>
            </a:extLst>
          </p:cNvPr>
          <p:cNvSpPr txBox="1"/>
          <p:nvPr/>
        </p:nvSpPr>
        <p:spPr>
          <a:xfrm>
            <a:off x="3885217" y="4702407"/>
            <a:ext cx="810152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-10" dirty="0">
                <a:solidFill>
                  <a:srgbClr val="3D3B3D"/>
                </a:solidFill>
                <a:latin typeface="Arial"/>
                <a:cs typeface="Arial"/>
              </a:rPr>
              <a:t>Closed</a:t>
            </a:r>
            <a:endParaRPr sz="1000" dirty="0">
              <a:latin typeface="Arial"/>
              <a:cs typeface="Arial"/>
            </a:endParaRPr>
          </a:p>
        </p:txBody>
      </p:sp>
      <p:sp>
        <p:nvSpPr>
          <p:cNvPr id="222" name="object 16">
            <a:extLst>
              <a:ext uri="{FF2B5EF4-FFF2-40B4-BE49-F238E27FC236}">
                <a16:creationId xmlns:a16="http://schemas.microsoft.com/office/drawing/2014/main" id="{D842F3E9-435B-1298-BA18-0A19996DB66F}"/>
              </a:ext>
            </a:extLst>
          </p:cNvPr>
          <p:cNvSpPr txBox="1"/>
          <p:nvPr/>
        </p:nvSpPr>
        <p:spPr>
          <a:xfrm>
            <a:off x="397597" y="4371433"/>
            <a:ext cx="218440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35" dirty="0">
                <a:solidFill>
                  <a:srgbClr val="1C1A1D"/>
                </a:solidFill>
                <a:latin typeface="Arial"/>
                <a:cs typeface="Arial"/>
              </a:rPr>
              <a:t>TOP</a:t>
            </a:r>
            <a:r>
              <a:rPr sz="1100" b="1" spc="90" dirty="0">
                <a:solidFill>
                  <a:srgbClr val="1C1A1D"/>
                </a:solidFill>
                <a:latin typeface="Arial"/>
                <a:cs typeface="Arial"/>
              </a:rPr>
              <a:t> </a:t>
            </a:r>
            <a:r>
              <a:rPr sz="1100" b="1" spc="100" dirty="0">
                <a:solidFill>
                  <a:srgbClr val="3D3B3D"/>
                </a:solidFill>
                <a:latin typeface="Arial"/>
                <a:cs typeface="Arial"/>
              </a:rPr>
              <a:t>5</a:t>
            </a:r>
            <a:r>
              <a:rPr sz="1100" b="1" spc="3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sz="1100" b="1" spc="40" dirty="0">
                <a:solidFill>
                  <a:srgbClr val="2D2D2F"/>
                </a:solidFill>
                <a:latin typeface="Arial"/>
                <a:cs typeface="Arial"/>
              </a:rPr>
              <a:t>INC</a:t>
            </a:r>
            <a:r>
              <a:rPr sz="1100" b="1" spc="-5" dirty="0"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2D2D2F"/>
                </a:solidFill>
                <a:latin typeface="Arial"/>
                <a:cs typeface="Arial"/>
              </a:rPr>
              <a:t>DENT</a:t>
            </a:r>
            <a:r>
              <a:rPr sz="1100" b="1" spc="20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sz="1100" b="1" dirty="0">
                <a:solidFill>
                  <a:srgbClr val="2D2D2F"/>
                </a:solidFill>
                <a:latin typeface="Arial"/>
                <a:cs typeface="Arial"/>
              </a:rPr>
              <a:t>CATEGOR</a:t>
            </a:r>
            <a:r>
              <a:rPr sz="1100" b="1" spc="-150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r>
              <a:rPr sz="1100" b="1" spc="-5" dirty="0">
                <a:latin typeface="Arial"/>
                <a:cs typeface="Arial"/>
              </a:rPr>
              <a:t>I</a:t>
            </a:r>
            <a:r>
              <a:rPr sz="1100" b="1" dirty="0">
                <a:solidFill>
                  <a:srgbClr val="2D2D2F"/>
                </a:solidFill>
                <a:latin typeface="Arial"/>
                <a:cs typeface="Arial"/>
              </a:rPr>
              <a:t>ES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223" name="object 17">
            <a:extLst>
              <a:ext uri="{FF2B5EF4-FFF2-40B4-BE49-F238E27FC236}">
                <a16:creationId xmlns:a16="http://schemas.microsoft.com/office/drawing/2014/main" id="{7E58D838-EACD-9E92-8501-6D809DF41DC9}"/>
              </a:ext>
            </a:extLst>
          </p:cNvPr>
          <p:cNvSpPr txBox="1"/>
          <p:nvPr/>
        </p:nvSpPr>
        <p:spPr>
          <a:xfrm>
            <a:off x="7975653" y="3679105"/>
            <a:ext cx="1167765" cy="14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950" spc="885" dirty="0">
                <a:solidFill>
                  <a:srgbClr val="5B93DD"/>
                </a:solidFill>
                <a:latin typeface="Arial"/>
                <a:cs typeface="Arial"/>
              </a:rPr>
              <a:t>•</a:t>
            </a:r>
            <a:r>
              <a:rPr sz="950" spc="-185" dirty="0">
                <a:solidFill>
                  <a:srgbClr val="5B93DD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4D4D4D"/>
                </a:solidFill>
                <a:latin typeface="Arial"/>
                <a:cs typeface="Arial"/>
              </a:rPr>
              <a:t>C</a:t>
            </a:r>
            <a:r>
              <a:rPr sz="950" spc="50" dirty="0">
                <a:solidFill>
                  <a:srgbClr val="2D2D2F"/>
                </a:solidFill>
                <a:latin typeface="Arial"/>
                <a:cs typeface="Arial"/>
              </a:rPr>
              <a:t>r</a:t>
            </a:r>
            <a:r>
              <a:rPr sz="950" spc="-30" dirty="0">
                <a:solidFill>
                  <a:srgbClr val="69696B"/>
                </a:solidFill>
                <a:latin typeface="Arial"/>
                <a:cs typeface="Arial"/>
              </a:rPr>
              <a:t>i</a:t>
            </a:r>
            <a:r>
              <a:rPr sz="950" spc="30" dirty="0">
                <a:solidFill>
                  <a:srgbClr val="2D2D2F"/>
                </a:solidFill>
                <a:latin typeface="Arial"/>
                <a:cs typeface="Arial"/>
              </a:rPr>
              <a:t>tic</a:t>
            </a:r>
            <a:r>
              <a:rPr sz="950" spc="85" dirty="0">
                <a:solidFill>
                  <a:srgbClr val="2D2D2F"/>
                </a:solidFill>
                <a:latin typeface="Arial"/>
                <a:cs typeface="Arial"/>
              </a:rPr>
              <a:t>a</a:t>
            </a:r>
            <a:r>
              <a:rPr sz="950" spc="254" dirty="0">
                <a:solidFill>
                  <a:srgbClr val="69696B"/>
                </a:solidFill>
                <a:latin typeface="Arial"/>
                <a:cs typeface="Arial"/>
              </a:rPr>
              <a:t>l</a:t>
            </a:r>
            <a:r>
              <a:rPr sz="950" dirty="0">
                <a:solidFill>
                  <a:srgbClr val="69696B"/>
                </a:solidFill>
                <a:latin typeface="Arial"/>
                <a:cs typeface="Arial"/>
              </a:rPr>
              <a:t>  </a:t>
            </a:r>
            <a:r>
              <a:rPr sz="950" spc="-20" dirty="0">
                <a:solidFill>
                  <a:srgbClr val="69696B"/>
                </a:solidFill>
                <a:latin typeface="Arial"/>
                <a:cs typeface="Arial"/>
              </a:rPr>
              <a:t> </a:t>
            </a:r>
            <a:r>
              <a:rPr sz="950" spc="795" dirty="0">
                <a:solidFill>
                  <a:srgbClr val="E99A50"/>
                </a:solidFill>
                <a:latin typeface="Arial"/>
                <a:cs typeface="Arial"/>
              </a:rPr>
              <a:t>•</a:t>
            </a:r>
            <a:r>
              <a:rPr sz="950" spc="-95" dirty="0">
                <a:solidFill>
                  <a:srgbClr val="E99A50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2D2D2F"/>
                </a:solidFill>
                <a:latin typeface="Arial"/>
                <a:cs typeface="Arial"/>
              </a:rPr>
              <a:t>H</a:t>
            </a:r>
            <a:r>
              <a:rPr sz="950" spc="50" dirty="0">
                <a:solidFill>
                  <a:srgbClr val="4D4D4D"/>
                </a:solidFill>
                <a:latin typeface="Arial"/>
                <a:cs typeface="Arial"/>
              </a:rPr>
              <a:t>igh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24" name="object 18">
            <a:extLst>
              <a:ext uri="{FF2B5EF4-FFF2-40B4-BE49-F238E27FC236}">
                <a16:creationId xmlns:a16="http://schemas.microsoft.com/office/drawing/2014/main" id="{CD543A97-2ADD-25B4-D893-831C7C3BA2D1}"/>
              </a:ext>
            </a:extLst>
          </p:cNvPr>
          <p:cNvSpPr txBox="1"/>
          <p:nvPr/>
        </p:nvSpPr>
        <p:spPr>
          <a:xfrm>
            <a:off x="9244777" y="3679105"/>
            <a:ext cx="1160145" cy="146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70180" indent="-157480">
              <a:lnSpc>
                <a:spcPct val="100000"/>
              </a:lnSpc>
              <a:buClr>
                <a:srgbClr val="91B6E6"/>
              </a:buClr>
              <a:buFont typeface="Arial"/>
              <a:buChar char="•"/>
              <a:tabLst>
                <a:tab pos="170815" algn="l"/>
              </a:tabLst>
            </a:pPr>
            <a:r>
              <a:rPr sz="950" spc="70" dirty="0">
                <a:solidFill>
                  <a:srgbClr val="3D3B3D"/>
                </a:solidFill>
                <a:latin typeface="Arial"/>
                <a:cs typeface="Arial"/>
              </a:rPr>
              <a:t>Me</a:t>
            </a:r>
            <a:r>
              <a:rPr sz="950" spc="-10" dirty="0">
                <a:solidFill>
                  <a:srgbClr val="3D3B3D"/>
                </a:solidFill>
                <a:latin typeface="Arial"/>
                <a:cs typeface="Arial"/>
              </a:rPr>
              <a:t>d</a:t>
            </a:r>
            <a:r>
              <a:rPr sz="950" spc="35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950" spc="75" dirty="0">
                <a:solidFill>
                  <a:srgbClr val="4D4D4D"/>
                </a:solidFill>
                <a:latin typeface="Arial"/>
                <a:cs typeface="Arial"/>
              </a:rPr>
              <a:t>um</a:t>
            </a:r>
            <a:r>
              <a:rPr sz="950" dirty="0">
                <a:solidFill>
                  <a:srgbClr val="4D4D4D"/>
                </a:solidFill>
                <a:latin typeface="Arial"/>
                <a:cs typeface="Arial"/>
              </a:rPr>
              <a:t>  </a:t>
            </a:r>
            <a:r>
              <a:rPr sz="950" spc="-4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sz="950" spc="795" dirty="0">
                <a:solidFill>
                  <a:srgbClr val="91B6E6"/>
                </a:solidFill>
                <a:latin typeface="Arial"/>
                <a:cs typeface="Arial"/>
              </a:rPr>
              <a:t>•</a:t>
            </a:r>
            <a:r>
              <a:rPr sz="950" spc="-95" dirty="0">
                <a:solidFill>
                  <a:srgbClr val="91B6E6"/>
                </a:solidFill>
                <a:latin typeface="Arial"/>
                <a:cs typeface="Arial"/>
              </a:rPr>
              <a:t> </a:t>
            </a:r>
            <a:r>
              <a:rPr sz="950" spc="55" dirty="0">
                <a:solidFill>
                  <a:srgbClr val="4D4D4D"/>
                </a:solidFill>
                <a:latin typeface="Arial"/>
                <a:cs typeface="Arial"/>
              </a:rPr>
              <a:t>Low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26" name="object 20">
            <a:extLst>
              <a:ext uri="{FF2B5EF4-FFF2-40B4-BE49-F238E27FC236}">
                <a16:creationId xmlns:a16="http://schemas.microsoft.com/office/drawing/2014/main" id="{6315B00F-D49A-864E-D86D-3FE98C5B7CC4}"/>
              </a:ext>
            </a:extLst>
          </p:cNvPr>
          <p:cNvSpPr txBox="1"/>
          <p:nvPr/>
        </p:nvSpPr>
        <p:spPr>
          <a:xfrm>
            <a:off x="442984" y="5298757"/>
            <a:ext cx="1612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-70" dirty="0">
                <a:solidFill>
                  <a:srgbClr val="2D2D2F"/>
                </a:solidFill>
                <a:latin typeface="Times New Roman"/>
                <a:cs typeface="Times New Roman"/>
              </a:rPr>
              <a:t>10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227" name="object 21">
            <a:extLst>
              <a:ext uri="{FF2B5EF4-FFF2-40B4-BE49-F238E27FC236}">
                <a16:creationId xmlns:a16="http://schemas.microsoft.com/office/drawing/2014/main" id="{0598075B-C9C1-8E4C-8142-03D23A0348DC}"/>
              </a:ext>
            </a:extLst>
          </p:cNvPr>
          <p:cNvSpPr txBox="1"/>
          <p:nvPr/>
        </p:nvSpPr>
        <p:spPr>
          <a:xfrm>
            <a:off x="314360" y="3243697"/>
            <a:ext cx="1013460" cy="66377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 algn="ctr">
              <a:lnSpc>
                <a:spcPct val="100000"/>
              </a:lnSpc>
            </a:pPr>
            <a:r>
              <a:rPr lang="en-US" b="1" spc="215" dirty="0">
                <a:solidFill>
                  <a:srgbClr val="2D2D2F"/>
                </a:solidFill>
                <a:latin typeface="Arial"/>
                <a:cs typeface="Arial"/>
              </a:rPr>
              <a:t>99</a:t>
            </a:r>
            <a:r>
              <a:rPr b="1" spc="-250" dirty="0">
                <a:solidFill>
                  <a:srgbClr val="2D2D2F"/>
                </a:solidFill>
                <a:latin typeface="Arial"/>
                <a:cs typeface="Arial"/>
              </a:rPr>
              <a:t>%</a:t>
            </a:r>
            <a:endParaRPr dirty="0">
              <a:latin typeface="Arial"/>
              <a:cs typeface="Arial"/>
            </a:endParaRPr>
          </a:p>
          <a:p>
            <a:pPr marL="12700" marR="5080" indent="-17145" algn="ctr">
              <a:lnSpc>
                <a:spcPct val="117400"/>
              </a:lnSpc>
              <a:spcBef>
                <a:spcPts val="590"/>
              </a:spcBef>
            </a:pPr>
            <a:r>
              <a:rPr sz="900" spc="95" dirty="0">
                <a:solidFill>
                  <a:srgbClr val="2D2D2F"/>
                </a:solidFill>
                <a:latin typeface="Arial"/>
                <a:cs typeface="Arial"/>
              </a:rPr>
              <a:t>SLA </a:t>
            </a:r>
            <a:r>
              <a:rPr sz="900" spc="40" dirty="0">
                <a:solidFill>
                  <a:srgbClr val="2D2D2F"/>
                </a:solidFill>
                <a:latin typeface="Arial"/>
                <a:cs typeface="Arial"/>
              </a:rPr>
              <a:t>COMPLIANCE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229" name="object 23">
            <a:extLst>
              <a:ext uri="{FF2B5EF4-FFF2-40B4-BE49-F238E27FC236}">
                <a16:creationId xmlns:a16="http://schemas.microsoft.com/office/drawing/2014/main" id="{2DA0ABF7-32EC-842C-30B7-AE1F0AE70801}"/>
              </a:ext>
            </a:extLst>
          </p:cNvPr>
          <p:cNvSpPr txBox="1"/>
          <p:nvPr/>
        </p:nvSpPr>
        <p:spPr>
          <a:xfrm>
            <a:off x="427219" y="4999516"/>
            <a:ext cx="1651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20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230" name="object 24">
            <a:extLst>
              <a:ext uri="{FF2B5EF4-FFF2-40B4-BE49-F238E27FC236}">
                <a16:creationId xmlns:a16="http://schemas.microsoft.com/office/drawing/2014/main" id="{C153F76F-475F-537B-4AA6-7135F10A4470}"/>
              </a:ext>
            </a:extLst>
          </p:cNvPr>
          <p:cNvSpPr txBox="1"/>
          <p:nvPr/>
        </p:nvSpPr>
        <p:spPr>
          <a:xfrm>
            <a:off x="498164" y="5597998"/>
            <a:ext cx="977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70" dirty="0">
                <a:solidFill>
                  <a:srgbClr val="3D3B3D"/>
                </a:solidFill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231" name="object 25">
            <a:extLst>
              <a:ext uri="{FF2B5EF4-FFF2-40B4-BE49-F238E27FC236}">
                <a16:creationId xmlns:a16="http://schemas.microsoft.com/office/drawing/2014/main" id="{2600924F-4835-AB6C-12BF-911395546285}"/>
              </a:ext>
            </a:extLst>
          </p:cNvPr>
          <p:cNvSpPr txBox="1"/>
          <p:nvPr/>
        </p:nvSpPr>
        <p:spPr>
          <a:xfrm>
            <a:off x="750412" y="5712675"/>
            <a:ext cx="2644426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950" spc="-70" dirty="0">
                <a:solidFill>
                  <a:srgbClr val="2D2D2F"/>
                </a:solidFill>
                <a:latin typeface="Arial"/>
                <a:cs typeface="Arial"/>
              </a:rPr>
              <a:t>EDC</a:t>
            </a:r>
            <a:r>
              <a:rPr sz="95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sz="950" spc="-3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lang="en-US" sz="950" spc="-30" dirty="0">
                <a:solidFill>
                  <a:srgbClr val="3D3B3D"/>
                </a:solidFill>
                <a:latin typeface="Arial"/>
                <a:cs typeface="Arial"/>
              </a:rPr>
              <a:t>   </a:t>
            </a:r>
            <a:r>
              <a:rPr lang="en-US" sz="950" spc="-10" dirty="0">
                <a:solidFill>
                  <a:srgbClr val="69696B"/>
                </a:solidFill>
                <a:latin typeface="Arial"/>
                <a:cs typeface="Arial"/>
              </a:rPr>
              <a:t>MAAS</a:t>
            </a:r>
            <a:r>
              <a:rPr sz="950" spc="-3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lang="en-US" sz="950" spc="-30" dirty="0">
                <a:solidFill>
                  <a:srgbClr val="4D4D4D"/>
                </a:solidFill>
                <a:latin typeface="Arial"/>
                <a:cs typeface="Arial"/>
              </a:rPr>
              <a:t>   </a:t>
            </a:r>
            <a:r>
              <a:rPr lang="en-US" sz="950" spc="-5" dirty="0">
                <a:solidFill>
                  <a:srgbClr val="4D4D4D"/>
                </a:solidFill>
                <a:latin typeface="Arial"/>
                <a:cs typeface="Arial"/>
              </a:rPr>
              <a:t>QRIS   Payment   Connection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260" name="object 11">
            <a:extLst>
              <a:ext uri="{FF2B5EF4-FFF2-40B4-BE49-F238E27FC236}">
                <a16:creationId xmlns:a16="http://schemas.microsoft.com/office/drawing/2014/main" id="{335DDA7D-DFE6-390E-E63A-EAA6A90CC3CB}"/>
              </a:ext>
            </a:extLst>
          </p:cNvPr>
          <p:cNvSpPr txBox="1"/>
          <p:nvPr/>
        </p:nvSpPr>
        <p:spPr>
          <a:xfrm>
            <a:off x="3885217" y="5121374"/>
            <a:ext cx="873204" cy="15388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50" dirty="0">
                <a:solidFill>
                  <a:srgbClr val="2D2D2F"/>
                </a:solidFill>
                <a:latin typeface="Arial"/>
                <a:cs typeface="Arial"/>
              </a:rPr>
              <a:t>Development</a:t>
            </a:r>
            <a:endParaRPr baseline="-25089" dirty="0">
              <a:latin typeface="Arial"/>
              <a:cs typeface="Arial"/>
            </a:endParaRPr>
          </a:p>
        </p:txBody>
      </p:sp>
      <p:sp>
        <p:nvSpPr>
          <p:cNvPr id="261" name="object 7">
            <a:extLst>
              <a:ext uri="{FF2B5EF4-FFF2-40B4-BE49-F238E27FC236}">
                <a16:creationId xmlns:a16="http://schemas.microsoft.com/office/drawing/2014/main" id="{22DEDBE9-E2EA-20A9-3456-4468FAF0F6EF}"/>
              </a:ext>
            </a:extLst>
          </p:cNvPr>
          <p:cNvSpPr/>
          <p:nvPr/>
        </p:nvSpPr>
        <p:spPr>
          <a:xfrm>
            <a:off x="4844226" y="5516316"/>
            <a:ext cx="496441" cy="260465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7">
            <a:extLst>
              <a:ext uri="{FF2B5EF4-FFF2-40B4-BE49-F238E27FC236}">
                <a16:creationId xmlns:a16="http://schemas.microsoft.com/office/drawing/2014/main" id="{60C8291C-4C07-1C1A-7C4C-EFB446BAF436}"/>
              </a:ext>
            </a:extLst>
          </p:cNvPr>
          <p:cNvSpPr/>
          <p:nvPr/>
        </p:nvSpPr>
        <p:spPr>
          <a:xfrm>
            <a:off x="4829353" y="4652323"/>
            <a:ext cx="1651000" cy="235387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7">
            <a:extLst>
              <a:ext uri="{FF2B5EF4-FFF2-40B4-BE49-F238E27FC236}">
                <a16:creationId xmlns:a16="http://schemas.microsoft.com/office/drawing/2014/main" id="{75029F57-E810-F679-6D00-22E4276D5428}"/>
              </a:ext>
            </a:extLst>
          </p:cNvPr>
          <p:cNvSpPr/>
          <p:nvPr/>
        </p:nvSpPr>
        <p:spPr>
          <a:xfrm>
            <a:off x="4844227" y="5068306"/>
            <a:ext cx="383094" cy="260465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7">
            <a:extLst>
              <a:ext uri="{FF2B5EF4-FFF2-40B4-BE49-F238E27FC236}">
                <a16:creationId xmlns:a16="http://schemas.microsoft.com/office/drawing/2014/main" id="{1CE92482-374F-6D7A-C235-B7D3DAB71966}"/>
              </a:ext>
            </a:extLst>
          </p:cNvPr>
          <p:cNvSpPr/>
          <p:nvPr/>
        </p:nvSpPr>
        <p:spPr>
          <a:xfrm rot="16200000">
            <a:off x="574003" y="5207544"/>
            <a:ext cx="633343" cy="295173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7">
            <a:extLst>
              <a:ext uri="{FF2B5EF4-FFF2-40B4-BE49-F238E27FC236}">
                <a16:creationId xmlns:a16="http://schemas.microsoft.com/office/drawing/2014/main" id="{D5DEEBB3-17DB-F4EB-B8DE-9068B1E2C767}"/>
              </a:ext>
            </a:extLst>
          </p:cNvPr>
          <p:cNvSpPr/>
          <p:nvPr/>
        </p:nvSpPr>
        <p:spPr>
          <a:xfrm rot="16200000">
            <a:off x="894489" y="5128282"/>
            <a:ext cx="813285" cy="295173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7">
            <a:extLst>
              <a:ext uri="{FF2B5EF4-FFF2-40B4-BE49-F238E27FC236}">
                <a16:creationId xmlns:a16="http://schemas.microsoft.com/office/drawing/2014/main" id="{36DAA605-39E4-7C10-D232-7D9E3D6C3FF4}"/>
              </a:ext>
            </a:extLst>
          </p:cNvPr>
          <p:cNvSpPr/>
          <p:nvPr/>
        </p:nvSpPr>
        <p:spPr>
          <a:xfrm rot="16200000" flipV="1">
            <a:off x="1404128" y="5168999"/>
            <a:ext cx="688714" cy="295174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7">
            <a:extLst>
              <a:ext uri="{FF2B5EF4-FFF2-40B4-BE49-F238E27FC236}">
                <a16:creationId xmlns:a16="http://schemas.microsoft.com/office/drawing/2014/main" id="{5B0D1131-F978-6024-9353-0EBCE73261F0}"/>
              </a:ext>
            </a:extLst>
          </p:cNvPr>
          <p:cNvSpPr/>
          <p:nvPr/>
        </p:nvSpPr>
        <p:spPr>
          <a:xfrm rot="16200000" flipV="1">
            <a:off x="2012877" y="5330856"/>
            <a:ext cx="350785" cy="286585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7">
            <a:extLst>
              <a:ext uri="{FF2B5EF4-FFF2-40B4-BE49-F238E27FC236}">
                <a16:creationId xmlns:a16="http://schemas.microsoft.com/office/drawing/2014/main" id="{B43BE1E6-2E8B-4209-07E5-CE4CE5308B27}"/>
              </a:ext>
            </a:extLst>
          </p:cNvPr>
          <p:cNvSpPr/>
          <p:nvPr/>
        </p:nvSpPr>
        <p:spPr>
          <a:xfrm rot="16200000" flipV="1">
            <a:off x="2604997" y="5406391"/>
            <a:ext cx="205644" cy="295173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1">
            <a:extLst>
              <a:ext uri="{FF2B5EF4-FFF2-40B4-BE49-F238E27FC236}">
                <a16:creationId xmlns:a16="http://schemas.microsoft.com/office/drawing/2014/main" id="{6B8B5239-D07B-A3BB-0944-99123FCDE217}"/>
              </a:ext>
            </a:extLst>
          </p:cNvPr>
          <p:cNvSpPr txBox="1"/>
          <p:nvPr/>
        </p:nvSpPr>
        <p:spPr>
          <a:xfrm>
            <a:off x="1327820" y="3415179"/>
            <a:ext cx="1013460" cy="5181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3970" algn="ctr">
              <a:lnSpc>
                <a:spcPct val="100000"/>
              </a:lnSpc>
            </a:pPr>
            <a:r>
              <a:rPr lang="en-US" b="1" spc="215" dirty="0">
                <a:solidFill>
                  <a:srgbClr val="FF0000"/>
                </a:solidFill>
                <a:latin typeface="Arial"/>
                <a:cs typeface="Arial"/>
              </a:rPr>
              <a:t>1</a:t>
            </a:r>
            <a:r>
              <a:rPr b="1" spc="-250" dirty="0">
                <a:solidFill>
                  <a:srgbClr val="FF0000"/>
                </a:solidFill>
                <a:latin typeface="Arial"/>
                <a:cs typeface="Arial"/>
              </a:rPr>
              <a:t>%</a:t>
            </a:r>
            <a:endParaRPr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 marR="5080" indent="-17145" algn="ctr">
              <a:lnSpc>
                <a:spcPct val="117400"/>
              </a:lnSpc>
              <a:spcBef>
                <a:spcPts val="590"/>
              </a:spcBef>
            </a:pPr>
            <a:r>
              <a:rPr lang="en-US" sz="900" spc="95" dirty="0">
                <a:solidFill>
                  <a:srgbClr val="2D2D2F"/>
                </a:solidFill>
                <a:latin typeface="Arial"/>
                <a:cs typeface="Arial"/>
              </a:rPr>
              <a:t>OUT OF SLA</a:t>
            </a:r>
            <a:endParaRPr sz="900" dirty="0">
              <a:latin typeface="Arial"/>
              <a:cs typeface="Arial"/>
            </a:endParaRPr>
          </a:p>
        </p:txBody>
      </p:sp>
      <p:pic>
        <p:nvPicPr>
          <p:cNvPr id="272" name="Picture 271">
            <a:extLst>
              <a:ext uri="{FF2B5EF4-FFF2-40B4-BE49-F238E27FC236}">
                <a16:creationId xmlns:a16="http://schemas.microsoft.com/office/drawing/2014/main" id="{74B9320F-327E-F1B8-A4A3-5A0A31DD05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7649" y="1826363"/>
            <a:ext cx="1968500" cy="1727200"/>
          </a:xfrm>
          <a:prstGeom prst="rect">
            <a:avLst/>
          </a:prstGeom>
        </p:spPr>
      </p:pic>
      <p:sp>
        <p:nvSpPr>
          <p:cNvPr id="273" name="object 23">
            <a:extLst>
              <a:ext uri="{FF2B5EF4-FFF2-40B4-BE49-F238E27FC236}">
                <a16:creationId xmlns:a16="http://schemas.microsoft.com/office/drawing/2014/main" id="{0118F9FF-30FC-7FED-6F6B-B23BF4991580}"/>
              </a:ext>
            </a:extLst>
          </p:cNvPr>
          <p:cNvSpPr txBox="1"/>
          <p:nvPr/>
        </p:nvSpPr>
        <p:spPr>
          <a:xfrm>
            <a:off x="427219" y="4745516"/>
            <a:ext cx="1651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3</a:t>
            </a:r>
            <a:r>
              <a:rPr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3" name="object 4">
            <a:extLst>
              <a:ext uri="{FF2B5EF4-FFF2-40B4-BE49-F238E27FC236}">
                <a16:creationId xmlns:a16="http://schemas.microsoft.com/office/drawing/2014/main" id="{C68274D8-11A4-1198-7945-B78920F94B4C}"/>
              </a:ext>
            </a:extLst>
          </p:cNvPr>
          <p:cNvSpPr txBox="1"/>
          <p:nvPr/>
        </p:nvSpPr>
        <p:spPr>
          <a:xfrm>
            <a:off x="310630" y="1459021"/>
            <a:ext cx="2711610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100" b="1" spc="6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45" dirty="0">
                <a:solidFill>
                  <a:srgbClr val="1C1A1D"/>
                </a:solidFill>
                <a:latin typeface="Arial"/>
                <a:cs typeface="Arial"/>
              </a:rPr>
              <a:t>NC</a:t>
            </a:r>
            <a:r>
              <a:rPr sz="1100" b="1" spc="30" dirty="0">
                <a:solidFill>
                  <a:srgbClr val="1C1A1D"/>
                </a:solidFill>
                <a:latin typeface="Arial"/>
                <a:cs typeface="Arial"/>
              </a:rPr>
              <a:t>I</a:t>
            </a:r>
            <a:r>
              <a:rPr sz="1100" b="1" spc="20" dirty="0">
                <a:solidFill>
                  <a:srgbClr val="1C1A1D"/>
                </a:solidFill>
                <a:latin typeface="Arial"/>
                <a:cs typeface="Arial"/>
              </a:rPr>
              <a:t>DENT</a:t>
            </a:r>
            <a:r>
              <a:rPr lang="en-US" sz="1100" b="1" spc="20" dirty="0">
                <a:solidFill>
                  <a:srgbClr val="1C1A1D"/>
                </a:solidFill>
                <a:latin typeface="Arial"/>
                <a:cs typeface="Arial"/>
              </a:rPr>
              <a:t>S as Of 1 Jan 26 – 30 Apr 26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4" name="object 8">
            <a:extLst>
              <a:ext uri="{FF2B5EF4-FFF2-40B4-BE49-F238E27FC236}">
                <a16:creationId xmlns:a16="http://schemas.microsoft.com/office/drawing/2014/main" id="{335B9B47-289B-A782-BF02-DD36449A9C1C}"/>
              </a:ext>
            </a:extLst>
          </p:cNvPr>
          <p:cNvSpPr txBox="1"/>
          <p:nvPr/>
        </p:nvSpPr>
        <p:spPr>
          <a:xfrm>
            <a:off x="1987309" y="1930745"/>
            <a:ext cx="1379855" cy="9387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spc="-215" dirty="0">
                <a:solidFill>
                  <a:srgbClr val="3D3B3D"/>
                </a:solidFill>
                <a:latin typeface="Arial"/>
                <a:cs typeface="Arial"/>
              </a:rPr>
              <a:t>100</a:t>
            </a:r>
            <a:endParaRPr sz="4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-US" sz="1400" spc="-120" dirty="0">
                <a:solidFill>
                  <a:srgbClr val="1C1A1D"/>
                </a:solidFill>
                <a:latin typeface="Arial"/>
                <a:cs typeface="Arial"/>
              </a:rPr>
              <a:t>Resolved</a:t>
            </a:r>
            <a:r>
              <a:rPr sz="1400" spc="-165" dirty="0">
                <a:latin typeface="Arial"/>
                <a:cs typeface="Arial"/>
              </a:rPr>
              <a:t> </a:t>
            </a:r>
            <a:r>
              <a:rPr lang="en-US" sz="1400" spc="-80" dirty="0">
                <a:solidFill>
                  <a:srgbClr val="2D2D2F"/>
                </a:solidFill>
                <a:latin typeface="Arial"/>
                <a:cs typeface="Arial"/>
              </a:rPr>
              <a:t>Tickets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5" name="object 8">
            <a:extLst>
              <a:ext uri="{FF2B5EF4-FFF2-40B4-BE49-F238E27FC236}">
                <a16:creationId xmlns:a16="http://schemas.microsoft.com/office/drawing/2014/main" id="{FAE8C5DC-C980-F14C-8719-11C313F66B52}"/>
              </a:ext>
            </a:extLst>
          </p:cNvPr>
          <p:cNvSpPr txBox="1"/>
          <p:nvPr/>
        </p:nvSpPr>
        <p:spPr>
          <a:xfrm>
            <a:off x="3663988" y="1930745"/>
            <a:ext cx="1379855" cy="938719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spc="-215" dirty="0">
                <a:solidFill>
                  <a:srgbClr val="3D3B3D"/>
                </a:solidFill>
                <a:latin typeface="Arial"/>
                <a:cs typeface="Arial"/>
              </a:rPr>
              <a:t>25</a:t>
            </a:r>
            <a:endParaRPr sz="4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-US" sz="1400" spc="-120" dirty="0" err="1">
                <a:solidFill>
                  <a:srgbClr val="1C1A1D"/>
                </a:solidFill>
                <a:latin typeface="Arial"/>
                <a:cs typeface="Arial"/>
              </a:rPr>
              <a:t>Open</a:t>
            </a:r>
            <a:r>
              <a:rPr lang="en-US" sz="1400" spc="-80" dirty="0" err="1">
                <a:solidFill>
                  <a:srgbClr val="2D2D2F"/>
                </a:solidFill>
                <a:latin typeface="Arial"/>
                <a:cs typeface="Arial"/>
              </a:rPr>
              <a:t>Tickets</a:t>
            </a:r>
            <a:r>
              <a:rPr lang="en-US" sz="1400" spc="-80" dirty="0">
                <a:solidFill>
                  <a:srgbClr val="2D2D2F"/>
                </a:solidFill>
                <a:latin typeface="Arial"/>
                <a:cs typeface="Arial"/>
              </a:rPr>
              <a:t> </a:t>
            </a:r>
            <a:endParaRPr sz="1400" dirty="0">
              <a:latin typeface="Arial"/>
              <a:cs typeface="Arial"/>
            </a:endParaRPr>
          </a:p>
        </p:txBody>
      </p:sp>
      <p:sp>
        <p:nvSpPr>
          <p:cNvPr id="7" name="object 8">
            <a:extLst>
              <a:ext uri="{FF2B5EF4-FFF2-40B4-BE49-F238E27FC236}">
                <a16:creationId xmlns:a16="http://schemas.microsoft.com/office/drawing/2014/main" id="{D884E45E-8C04-2DC6-1018-5ED56F939980}"/>
              </a:ext>
            </a:extLst>
          </p:cNvPr>
          <p:cNvSpPr txBox="1"/>
          <p:nvPr/>
        </p:nvSpPr>
        <p:spPr>
          <a:xfrm>
            <a:off x="5340667" y="1996072"/>
            <a:ext cx="1379855" cy="877163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spc="-215" dirty="0">
                <a:solidFill>
                  <a:srgbClr val="3D3B3D"/>
                </a:solidFill>
                <a:latin typeface="Arial"/>
                <a:cs typeface="Arial"/>
              </a:rPr>
              <a:t>3</a:t>
            </a:r>
            <a:endParaRPr sz="4000" dirty="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55"/>
              </a:spcBef>
            </a:pPr>
            <a:r>
              <a:rPr lang="en-US" sz="1200" spc="-120" dirty="0">
                <a:solidFill>
                  <a:srgbClr val="1C1A1D"/>
                </a:solidFill>
                <a:latin typeface="Arial"/>
                <a:cs typeface="Arial"/>
              </a:rPr>
              <a:t>Avg </a:t>
            </a:r>
            <a:r>
              <a:rPr lang="en-US" sz="1200" spc="-120" dirty="0" err="1">
                <a:solidFill>
                  <a:srgbClr val="1C1A1D"/>
                </a:solidFill>
                <a:latin typeface="Arial"/>
                <a:cs typeface="Arial"/>
              </a:rPr>
              <a:t>Resol</a:t>
            </a:r>
            <a:r>
              <a:rPr lang="en-US" sz="1200" spc="-120" dirty="0">
                <a:solidFill>
                  <a:srgbClr val="1C1A1D"/>
                </a:solidFill>
                <a:latin typeface="Arial"/>
                <a:cs typeface="Arial"/>
              </a:rPr>
              <a:t> Time (Days)</a:t>
            </a:r>
            <a:endParaRPr sz="1200" dirty="0">
              <a:latin typeface="Arial"/>
              <a:cs typeface="Arial"/>
            </a:endParaRPr>
          </a:p>
        </p:txBody>
      </p:sp>
      <p:sp>
        <p:nvSpPr>
          <p:cNvPr id="8" name="object 16">
            <a:extLst>
              <a:ext uri="{FF2B5EF4-FFF2-40B4-BE49-F238E27FC236}">
                <a16:creationId xmlns:a16="http://schemas.microsoft.com/office/drawing/2014/main" id="{4FA9DF49-59DB-5574-98B7-198115BB1189}"/>
              </a:ext>
            </a:extLst>
          </p:cNvPr>
          <p:cNvSpPr txBox="1"/>
          <p:nvPr/>
        </p:nvSpPr>
        <p:spPr>
          <a:xfrm>
            <a:off x="7776070" y="4401448"/>
            <a:ext cx="2810649" cy="1692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100" b="1" spc="35" dirty="0">
                <a:solidFill>
                  <a:srgbClr val="1C1A1D"/>
                </a:solidFill>
                <a:latin typeface="Arial"/>
                <a:cs typeface="Arial"/>
              </a:rPr>
              <a:t>INCIDENT REGISTERED Per Month</a:t>
            </a:r>
            <a:endParaRPr sz="1100" b="1" dirty="0">
              <a:latin typeface="Arial"/>
              <a:cs typeface="Arial"/>
            </a:endParaRPr>
          </a:p>
        </p:txBody>
      </p:sp>
      <p:sp>
        <p:nvSpPr>
          <p:cNvPr id="9" name="object 20">
            <a:extLst>
              <a:ext uri="{FF2B5EF4-FFF2-40B4-BE49-F238E27FC236}">
                <a16:creationId xmlns:a16="http://schemas.microsoft.com/office/drawing/2014/main" id="{2C4558F8-0ABD-6813-850E-D66B0AAA4929}"/>
              </a:ext>
            </a:extLst>
          </p:cNvPr>
          <p:cNvSpPr txBox="1"/>
          <p:nvPr/>
        </p:nvSpPr>
        <p:spPr>
          <a:xfrm>
            <a:off x="7821458" y="5328772"/>
            <a:ext cx="1612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-70" dirty="0">
                <a:solidFill>
                  <a:srgbClr val="2D2D2F"/>
                </a:solidFill>
                <a:latin typeface="Times New Roman"/>
                <a:cs typeface="Times New Roman"/>
              </a:rPr>
              <a:t>10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10" name="object 23">
            <a:extLst>
              <a:ext uri="{FF2B5EF4-FFF2-40B4-BE49-F238E27FC236}">
                <a16:creationId xmlns:a16="http://schemas.microsoft.com/office/drawing/2014/main" id="{F0EF4EB4-8A1B-7B43-E217-515C8A937A1F}"/>
              </a:ext>
            </a:extLst>
          </p:cNvPr>
          <p:cNvSpPr txBox="1"/>
          <p:nvPr/>
        </p:nvSpPr>
        <p:spPr>
          <a:xfrm>
            <a:off x="7805693" y="5029531"/>
            <a:ext cx="1651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20</a:t>
            </a:r>
            <a:endParaRPr sz="1000" dirty="0">
              <a:latin typeface="Times New Roman"/>
              <a:cs typeface="Times New Roman"/>
            </a:endParaRPr>
          </a:p>
        </p:txBody>
      </p:sp>
      <p:sp>
        <p:nvSpPr>
          <p:cNvPr id="11" name="object 24">
            <a:extLst>
              <a:ext uri="{FF2B5EF4-FFF2-40B4-BE49-F238E27FC236}">
                <a16:creationId xmlns:a16="http://schemas.microsoft.com/office/drawing/2014/main" id="{E94A2F59-9A89-60B3-DC34-DC8770ACA84E}"/>
              </a:ext>
            </a:extLst>
          </p:cNvPr>
          <p:cNvSpPr txBox="1"/>
          <p:nvPr/>
        </p:nvSpPr>
        <p:spPr>
          <a:xfrm>
            <a:off x="7876638" y="5512189"/>
            <a:ext cx="9779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000" spc="70" dirty="0">
                <a:solidFill>
                  <a:srgbClr val="3D3B3D"/>
                </a:solidFill>
                <a:latin typeface="Times New Roman"/>
                <a:cs typeface="Times New Roman"/>
              </a:rPr>
              <a:t>0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25">
            <a:extLst>
              <a:ext uri="{FF2B5EF4-FFF2-40B4-BE49-F238E27FC236}">
                <a16:creationId xmlns:a16="http://schemas.microsoft.com/office/drawing/2014/main" id="{A896C5B3-D2E7-B56F-1DC1-B73930C64FCC}"/>
              </a:ext>
            </a:extLst>
          </p:cNvPr>
          <p:cNvSpPr txBox="1"/>
          <p:nvPr/>
        </p:nvSpPr>
        <p:spPr>
          <a:xfrm>
            <a:off x="8128886" y="5742690"/>
            <a:ext cx="2644426" cy="14619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950" spc="-70" dirty="0">
                <a:solidFill>
                  <a:srgbClr val="2D2D2F"/>
                </a:solidFill>
                <a:latin typeface="Arial"/>
                <a:cs typeface="Arial"/>
              </a:rPr>
              <a:t>Jan</a:t>
            </a:r>
            <a:r>
              <a:rPr sz="95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sz="950" spc="-30" dirty="0">
                <a:solidFill>
                  <a:srgbClr val="3D3B3D"/>
                </a:solidFill>
                <a:latin typeface="Arial"/>
                <a:cs typeface="Arial"/>
              </a:rPr>
              <a:t> </a:t>
            </a:r>
            <a:r>
              <a:rPr lang="en-US" sz="950" spc="-30" dirty="0">
                <a:solidFill>
                  <a:srgbClr val="3D3B3D"/>
                </a:solidFill>
                <a:latin typeface="Arial"/>
                <a:cs typeface="Arial"/>
              </a:rPr>
              <a:t>      </a:t>
            </a:r>
            <a:r>
              <a:rPr lang="en-US" sz="950" spc="-10" dirty="0">
                <a:solidFill>
                  <a:srgbClr val="69696B"/>
                </a:solidFill>
                <a:latin typeface="Arial"/>
                <a:cs typeface="Arial"/>
              </a:rPr>
              <a:t>Feb</a:t>
            </a:r>
            <a:r>
              <a:rPr sz="950" spc="-30" dirty="0">
                <a:solidFill>
                  <a:srgbClr val="4D4D4D"/>
                </a:solidFill>
                <a:latin typeface="Arial"/>
                <a:cs typeface="Arial"/>
              </a:rPr>
              <a:t> </a:t>
            </a:r>
            <a:r>
              <a:rPr lang="en-US" sz="950" spc="-30" dirty="0">
                <a:solidFill>
                  <a:srgbClr val="4D4D4D"/>
                </a:solidFill>
                <a:latin typeface="Arial"/>
                <a:cs typeface="Arial"/>
              </a:rPr>
              <a:t>        </a:t>
            </a:r>
            <a:r>
              <a:rPr lang="en-US" sz="950" spc="-5" dirty="0">
                <a:solidFill>
                  <a:srgbClr val="4D4D4D"/>
                </a:solidFill>
                <a:latin typeface="Arial"/>
                <a:cs typeface="Arial"/>
              </a:rPr>
              <a:t>Mar        Apr</a:t>
            </a:r>
            <a:endParaRPr sz="950" dirty="0">
              <a:latin typeface="Arial"/>
              <a:cs typeface="Arial"/>
            </a:endParaRPr>
          </a:p>
        </p:txBody>
      </p:sp>
      <p:sp>
        <p:nvSpPr>
          <p:cNvPr id="13" name="object 7">
            <a:extLst>
              <a:ext uri="{FF2B5EF4-FFF2-40B4-BE49-F238E27FC236}">
                <a16:creationId xmlns:a16="http://schemas.microsoft.com/office/drawing/2014/main" id="{71424350-BD84-B490-12D6-50DCF74585FD}"/>
              </a:ext>
            </a:extLst>
          </p:cNvPr>
          <p:cNvSpPr/>
          <p:nvPr/>
        </p:nvSpPr>
        <p:spPr>
          <a:xfrm rot="16200000">
            <a:off x="8025499" y="5310579"/>
            <a:ext cx="487300" cy="295173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7">
            <a:extLst>
              <a:ext uri="{FF2B5EF4-FFF2-40B4-BE49-F238E27FC236}">
                <a16:creationId xmlns:a16="http://schemas.microsoft.com/office/drawing/2014/main" id="{8827CB39-2B40-6C12-0832-3E54C32B1095}"/>
              </a:ext>
            </a:extLst>
          </p:cNvPr>
          <p:cNvSpPr/>
          <p:nvPr/>
        </p:nvSpPr>
        <p:spPr>
          <a:xfrm rot="16200000">
            <a:off x="8472721" y="5358053"/>
            <a:ext cx="413770" cy="295174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7">
            <a:extLst>
              <a:ext uri="{FF2B5EF4-FFF2-40B4-BE49-F238E27FC236}">
                <a16:creationId xmlns:a16="http://schemas.microsoft.com/office/drawing/2014/main" id="{826A09FA-CD40-94E7-E7DD-F74C7A874E8E}"/>
              </a:ext>
            </a:extLst>
          </p:cNvPr>
          <p:cNvSpPr/>
          <p:nvPr/>
        </p:nvSpPr>
        <p:spPr>
          <a:xfrm rot="16200000" flipV="1">
            <a:off x="8782602" y="5199014"/>
            <a:ext cx="688714" cy="295174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7">
            <a:extLst>
              <a:ext uri="{FF2B5EF4-FFF2-40B4-BE49-F238E27FC236}">
                <a16:creationId xmlns:a16="http://schemas.microsoft.com/office/drawing/2014/main" id="{B85E9CAA-75E2-6BBF-97D3-6BD581F65F8C}"/>
              </a:ext>
            </a:extLst>
          </p:cNvPr>
          <p:cNvSpPr/>
          <p:nvPr/>
        </p:nvSpPr>
        <p:spPr>
          <a:xfrm rot="16200000" flipV="1">
            <a:off x="9391351" y="5360871"/>
            <a:ext cx="350785" cy="286585"/>
          </a:xfrm>
          <a:custGeom>
            <a:avLst/>
            <a:gdLst/>
            <a:ahLst/>
            <a:cxnLst/>
            <a:rect l="l" t="t" r="r" b="b"/>
            <a:pathLst>
              <a:path w="74929" h="268605">
                <a:moveTo>
                  <a:pt x="0" y="0"/>
                </a:moveTo>
                <a:lnTo>
                  <a:pt x="74562" y="0"/>
                </a:lnTo>
                <a:lnTo>
                  <a:pt x="74562" y="268554"/>
                </a:lnTo>
                <a:lnTo>
                  <a:pt x="0" y="268554"/>
                </a:lnTo>
                <a:lnTo>
                  <a:pt x="0" y="0"/>
                </a:lnTo>
                <a:close/>
              </a:path>
            </a:pathLst>
          </a:custGeom>
          <a:solidFill>
            <a:srgbClr val="49698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23">
            <a:extLst>
              <a:ext uri="{FF2B5EF4-FFF2-40B4-BE49-F238E27FC236}">
                <a16:creationId xmlns:a16="http://schemas.microsoft.com/office/drawing/2014/main" id="{9D935BFD-B36F-AF88-1F0C-6E952C8788C1}"/>
              </a:ext>
            </a:extLst>
          </p:cNvPr>
          <p:cNvSpPr txBox="1"/>
          <p:nvPr/>
        </p:nvSpPr>
        <p:spPr>
          <a:xfrm>
            <a:off x="7805693" y="4775531"/>
            <a:ext cx="16510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3</a:t>
            </a:r>
            <a:r>
              <a:rPr sz="1000" spc="50" dirty="0">
                <a:solidFill>
                  <a:srgbClr val="4D4D4D"/>
                </a:solidFill>
                <a:latin typeface="Times New Roman"/>
                <a:cs typeface="Times New Roman"/>
              </a:rPr>
              <a:t>0</a:t>
            </a:r>
            <a:endParaRPr sz="1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043691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36BB7-F3D3-365F-8948-C4C5DB049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Incident Communication</a:t>
            </a:r>
            <a:endParaRPr lang="en-ID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84A4E4-6CB2-B9FC-CF39-52F1CAF938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951" y="844255"/>
            <a:ext cx="7995245" cy="280811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2ABA71BE-7658-F859-6EDB-D085858113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783" y="3907643"/>
            <a:ext cx="7984413" cy="2493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8481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FB6BC-DF06-CFD2-398B-3192098FB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Draft Mockup – Dashboard Incident Management</a:t>
            </a:r>
            <a:endParaRPr lang="en-US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C5E386F8-76E3-DCDF-8855-8BEF2ADF2C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26705313"/>
              </p:ext>
            </p:extLst>
          </p:nvPr>
        </p:nvGraphicFramePr>
        <p:xfrm>
          <a:off x="330200" y="1118315"/>
          <a:ext cx="11531601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0400">
                  <a:extLst>
                    <a:ext uri="{9D8B030D-6E8A-4147-A177-3AD203B41FA5}">
                      <a16:colId xmlns:a16="http://schemas.microsoft.com/office/drawing/2014/main" val="1456541324"/>
                    </a:ext>
                  </a:extLst>
                </a:gridCol>
                <a:gridCol w="736600">
                  <a:extLst>
                    <a:ext uri="{9D8B030D-6E8A-4147-A177-3AD203B41FA5}">
                      <a16:colId xmlns:a16="http://schemas.microsoft.com/office/drawing/2014/main" val="791295307"/>
                    </a:ext>
                  </a:extLst>
                </a:gridCol>
                <a:gridCol w="2171700">
                  <a:extLst>
                    <a:ext uri="{9D8B030D-6E8A-4147-A177-3AD203B41FA5}">
                      <a16:colId xmlns:a16="http://schemas.microsoft.com/office/drawing/2014/main" val="3464367835"/>
                    </a:ext>
                  </a:extLst>
                </a:gridCol>
                <a:gridCol w="774700">
                  <a:extLst>
                    <a:ext uri="{9D8B030D-6E8A-4147-A177-3AD203B41FA5}">
                      <a16:colId xmlns:a16="http://schemas.microsoft.com/office/drawing/2014/main" val="364446971"/>
                    </a:ext>
                  </a:extLst>
                </a:gridCol>
                <a:gridCol w="952500">
                  <a:extLst>
                    <a:ext uri="{9D8B030D-6E8A-4147-A177-3AD203B41FA5}">
                      <a16:colId xmlns:a16="http://schemas.microsoft.com/office/drawing/2014/main" val="645705046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1493156901"/>
                    </a:ext>
                  </a:extLst>
                </a:gridCol>
                <a:gridCol w="584200">
                  <a:extLst>
                    <a:ext uri="{9D8B030D-6E8A-4147-A177-3AD203B41FA5}">
                      <a16:colId xmlns:a16="http://schemas.microsoft.com/office/drawing/2014/main" val="3019262721"/>
                    </a:ext>
                  </a:extLst>
                </a:gridCol>
                <a:gridCol w="1155700">
                  <a:extLst>
                    <a:ext uri="{9D8B030D-6E8A-4147-A177-3AD203B41FA5}">
                      <a16:colId xmlns:a16="http://schemas.microsoft.com/office/drawing/2014/main" val="14482768"/>
                    </a:ext>
                  </a:extLst>
                </a:gridCol>
                <a:gridCol w="1142564">
                  <a:extLst>
                    <a:ext uri="{9D8B030D-6E8A-4147-A177-3AD203B41FA5}">
                      <a16:colId xmlns:a16="http://schemas.microsoft.com/office/drawing/2014/main" val="4290147445"/>
                    </a:ext>
                  </a:extLst>
                </a:gridCol>
                <a:gridCol w="1138202">
                  <a:extLst>
                    <a:ext uri="{9D8B030D-6E8A-4147-A177-3AD203B41FA5}">
                      <a16:colId xmlns:a16="http://schemas.microsoft.com/office/drawing/2014/main" val="3942952547"/>
                    </a:ext>
                  </a:extLst>
                </a:gridCol>
                <a:gridCol w="1084734">
                  <a:extLst>
                    <a:ext uri="{9D8B030D-6E8A-4147-A177-3AD203B41FA5}">
                      <a16:colId xmlns:a16="http://schemas.microsoft.com/office/drawing/2014/main" val="3126329344"/>
                    </a:ext>
                  </a:extLst>
                </a:gridCol>
                <a:gridCol w="685801">
                  <a:extLst>
                    <a:ext uri="{9D8B030D-6E8A-4147-A177-3AD203B41FA5}">
                      <a16:colId xmlns:a16="http://schemas.microsoft.com/office/drawing/2014/main" val="481978767"/>
                    </a:ext>
                  </a:extLst>
                </a:gridCol>
              </a:tblGrid>
              <a:tr h="215185"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Tracker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No Redmine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SLA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OLA Incident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OLA Application Support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OLA Development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OLA QA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dirty="0"/>
                        <a:t>Progress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27284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Incident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17999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Kendala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transaksi</a:t>
                      </a:r>
                      <a:r>
                        <a:rPr lang="en-US" sz="1000" dirty="0"/>
                        <a:t> </a:t>
                      </a:r>
                      <a:r>
                        <a:rPr lang="en-US" sz="1000" dirty="0" err="1"/>
                        <a:t>Contacless</a:t>
                      </a:r>
                      <a:endParaRPr lang="en-US" sz="1000" dirty="0"/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Medium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Development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14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7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Done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Done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 Progress</a:t>
                      </a:r>
                    </a:p>
                  </a:txBody>
                  <a:tcP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Not Started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8861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000" dirty="0"/>
                        <a:t>Incident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17953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 err="1"/>
                        <a:t>Perbaikan</a:t>
                      </a:r>
                      <a:r>
                        <a:rPr lang="en-US" sz="1000" dirty="0"/>
                        <a:t> EDC Android Inhouse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Low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Development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60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Done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Done</a:t>
                      </a:r>
                    </a:p>
                  </a:txBody>
                  <a:tcP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In Progress</a:t>
                      </a:r>
                    </a:p>
                  </a:txBody>
                  <a:tcP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Not Started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/>
                        <a:t>50%</a:t>
                      </a:r>
                    </a:p>
                  </a:txBody>
                  <a:tcP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43866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024081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E498F8-9C3E-37D6-7345-87DBDC8015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Draft OLA (Operation Level Agreement)</a:t>
            </a:r>
            <a:endParaRPr lang="en-ID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D68CB69-8EE1-BDE7-7793-96DD216A484B}"/>
              </a:ext>
            </a:extLst>
          </p:cNvPr>
          <p:cNvSpPr txBox="1">
            <a:spLocks/>
          </p:cNvSpPr>
          <p:nvPr/>
        </p:nvSpPr>
        <p:spPr>
          <a:xfrm>
            <a:off x="752475" y="431801"/>
            <a:ext cx="10515600" cy="477356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16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j-ea"/>
                <a:cs typeface="+mj-cs"/>
              </a:defRPr>
            </a:lvl1pPr>
          </a:lstStyle>
          <a:p>
            <a:endParaRPr lang="en-ID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0E80EE2-D00C-DF9E-E1DF-7EC7E0BE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50" y="998915"/>
            <a:ext cx="3899403" cy="3620586"/>
          </a:xfrm>
          <a:prstGeom prst="rect">
            <a:avLst/>
          </a:prstGeom>
        </p:spPr>
      </p:pic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96CDC794-3E75-46F5-F91A-3337700524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1343186"/>
              </p:ext>
            </p:extLst>
          </p:nvPr>
        </p:nvGraphicFramePr>
        <p:xfrm>
          <a:off x="4057399" y="998915"/>
          <a:ext cx="8063349" cy="3053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9710">
                  <a:extLst>
                    <a:ext uri="{9D8B030D-6E8A-4147-A177-3AD203B41FA5}">
                      <a16:colId xmlns:a16="http://schemas.microsoft.com/office/drawing/2014/main" val="4106028800"/>
                    </a:ext>
                  </a:extLst>
                </a:gridCol>
                <a:gridCol w="1033472">
                  <a:extLst>
                    <a:ext uri="{9D8B030D-6E8A-4147-A177-3AD203B41FA5}">
                      <a16:colId xmlns:a16="http://schemas.microsoft.com/office/drawing/2014/main" val="2338133296"/>
                    </a:ext>
                  </a:extLst>
                </a:gridCol>
                <a:gridCol w="669102">
                  <a:extLst>
                    <a:ext uri="{9D8B030D-6E8A-4147-A177-3AD203B41FA5}">
                      <a16:colId xmlns:a16="http://schemas.microsoft.com/office/drawing/2014/main" val="1608747198"/>
                    </a:ext>
                  </a:extLst>
                </a:gridCol>
                <a:gridCol w="669102">
                  <a:extLst>
                    <a:ext uri="{9D8B030D-6E8A-4147-A177-3AD203B41FA5}">
                      <a16:colId xmlns:a16="http://schemas.microsoft.com/office/drawing/2014/main" val="813394034"/>
                    </a:ext>
                  </a:extLst>
                </a:gridCol>
                <a:gridCol w="942624">
                  <a:extLst>
                    <a:ext uri="{9D8B030D-6E8A-4147-A177-3AD203B41FA5}">
                      <a16:colId xmlns:a16="http://schemas.microsoft.com/office/drawing/2014/main" val="1398045228"/>
                    </a:ext>
                  </a:extLst>
                </a:gridCol>
                <a:gridCol w="1246874">
                  <a:extLst>
                    <a:ext uri="{9D8B030D-6E8A-4147-A177-3AD203B41FA5}">
                      <a16:colId xmlns:a16="http://schemas.microsoft.com/office/drawing/2014/main" val="1360256478"/>
                    </a:ext>
                  </a:extLst>
                </a:gridCol>
                <a:gridCol w="1050960">
                  <a:extLst>
                    <a:ext uri="{9D8B030D-6E8A-4147-A177-3AD203B41FA5}">
                      <a16:colId xmlns:a16="http://schemas.microsoft.com/office/drawing/2014/main" val="90821181"/>
                    </a:ext>
                  </a:extLst>
                </a:gridCol>
                <a:gridCol w="875799">
                  <a:extLst>
                    <a:ext uri="{9D8B030D-6E8A-4147-A177-3AD203B41FA5}">
                      <a16:colId xmlns:a16="http://schemas.microsoft.com/office/drawing/2014/main" val="1950424732"/>
                    </a:ext>
                  </a:extLst>
                </a:gridCol>
                <a:gridCol w="775706">
                  <a:extLst>
                    <a:ext uri="{9D8B030D-6E8A-4147-A177-3AD203B41FA5}">
                      <a16:colId xmlns:a16="http://schemas.microsoft.com/office/drawing/2014/main" val="3379576837"/>
                    </a:ext>
                  </a:extLst>
                </a:gridCol>
              </a:tblGrid>
              <a:tr h="370840"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Severity</a:t>
                      </a:r>
                      <a:endParaRPr lang="en-ID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Temp/</a:t>
                      </a:r>
                    </a:p>
                    <a:p>
                      <a:pPr algn="ctr"/>
                      <a:r>
                        <a:rPr lang="en-US" sz="1200" dirty="0"/>
                        <a:t>Permanent</a:t>
                      </a:r>
                      <a:endParaRPr lang="en-ID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SLA Fixing</a:t>
                      </a:r>
                      <a:endParaRPr lang="en-ID" sz="1200" dirty="0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/>
                      <a:r>
                        <a:rPr lang="en-ID" sz="1200" dirty="0"/>
                        <a:t>SLA BAST PTR</a:t>
                      </a:r>
                    </a:p>
                  </a:txBody>
                  <a:tcPr/>
                </a:tc>
                <a:tc gridSpan="5">
                  <a:txBody>
                    <a:bodyPr/>
                    <a:lstStyle/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r>
                        <a:rPr lang="en-US" sz="1600" dirty="0"/>
                        <a:t>OLA</a:t>
                      </a:r>
                      <a:endParaRPr lang="en-ID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29958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D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D" sz="1200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 Helpdesk</a:t>
                      </a:r>
                      <a:endParaRPr lang="en-ID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Incident Management</a:t>
                      </a:r>
                      <a:endParaRPr lang="en-ID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05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 Application Support</a:t>
                      </a:r>
                      <a:endParaRPr lang="en-ID" sz="105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IT Dev</a:t>
                      </a:r>
                      <a:endParaRPr lang="en-ID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QA</a:t>
                      </a:r>
                      <a:endParaRPr lang="en-ID" sz="12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8745593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Critical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Temporary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 Jam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ID" sz="1200" dirty="0"/>
                        <a:t>7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200" dirty="0"/>
                        <a:t>5 </a:t>
                      </a:r>
                      <a:r>
                        <a:rPr lang="en-ID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5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110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27214618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Permanent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7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200" dirty="0"/>
                        <a:t>15 </a:t>
                      </a:r>
                      <a:r>
                        <a:rPr lang="en-ID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2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 Hari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1139492"/>
                  </a:ext>
                </a:extLst>
              </a:tr>
              <a:tr h="370840">
                <a:tc rowSpan="2">
                  <a:txBody>
                    <a:bodyPr/>
                    <a:lstStyle/>
                    <a:p>
                      <a:r>
                        <a:rPr lang="en-US" sz="1200" dirty="0"/>
                        <a:t>High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Temporary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 Jam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7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200" dirty="0"/>
                        <a:t>5 </a:t>
                      </a:r>
                      <a:r>
                        <a:rPr lang="en-ID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15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50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180 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906100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Permanent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7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7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200" dirty="0"/>
                        <a:t>15 </a:t>
                      </a:r>
                      <a:r>
                        <a:rPr lang="en-ID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20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-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4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3 Hari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915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Medium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Permanent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14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7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200" dirty="0"/>
                        <a:t>15 </a:t>
                      </a:r>
                      <a:r>
                        <a:rPr lang="en-ID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30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1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/>
                        <a:t>7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6 Hari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07323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200" dirty="0"/>
                        <a:t>Low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Permanent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60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D" sz="1200" dirty="0"/>
                        <a:t>7 Hari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D" sz="1200" dirty="0"/>
                        <a:t>15 </a:t>
                      </a:r>
                      <a:r>
                        <a:rPr lang="en-ID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45 </a:t>
                      </a:r>
                      <a:r>
                        <a:rPr lang="en-US" sz="1200" dirty="0" err="1"/>
                        <a:t>Menit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3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30 Hari</a:t>
                      </a:r>
                      <a:endParaRPr lang="en-ID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00" dirty="0"/>
                        <a:t>27 Hari</a:t>
                      </a:r>
                      <a:endParaRPr lang="en-ID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37781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690A1593-A389-2EB5-EFC6-7486203DD6D9}"/>
              </a:ext>
            </a:extLst>
          </p:cNvPr>
          <p:cNvSpPr txBox="1"/>
          <p:nvPr/>
        </p:nvSpPr>
        <p:spPr>
          <a:xfrm>
            <a:off x="4057398" y="4246261"/>
            <a:ext cx="80633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Notes : </a:t>
            </a:r>
          </a:p>
          <a:p>
            <a:r>
              <a:rPr lang="en-US" dirty="0"/>
              <a:t>SLA </a:t>
            </a:r>
            <a:r>
              <a:rPr lang="en-US" dirty="0" err="1"/>
              <a:t>dihitung</a:t>
            </a:r>
            <a:r>
              <a:rPr lang="en-US" dirty="0"/>
              <a:t> </a:t>
            </a:r>
            <a:r>
              <a:rPr lang="en-US" dirty="0" err="1"/>
              <a:t>sejak</a:t>
            </a:r>
            <a:r>
              <a:rPr lang="en-US" dirty="0"/>
              <a:t> incident </a:t>
            </a:r>
            <a:r>
              <a:rPr lang="en-US" dirty="0" err="1"/>
              <a:t>terjadi</a:t>
            </a:r>
            <a:r>
              <a:rPr lang="en-US" dirty="0"/>
              <a:t>/</a:t>
            </a:r>
            <a:r>
              <a:rPr lang="en-US" dirty="0" err="1"/>
              <a:t>tiket</a:t>
            </a:r>
            <a:r>
              <a:rPr lang="en-US" dirty="0"/>
              <a:t> </a:t>
            </a:r>
            <a:r>
              <a:rPr lang="en-US" dirty="0" err="1"/>
              <a:t>dibuat</a:t>
            </a:r>
            <a:r>
              <a:rPr lang="en-US" dirty="0"/>
              <a:t> </a:t>
            </a:r>
            <a:r>
              <a:rPr lang="en-US" dirty="0" err="1"/>
              <a:t>sampai</a:t>
            </a:r>
            <a:r>
              <a:rPr lang="en-US" dirty="0"/>
              <a:t> CCB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12779390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37259</TotalTime>
  <Words>489</Words>
  <Application>Microsoft Office PowerPoint</Application>
  <PresentationFormat>Widescreen</PresentationFormat>
  <Paragraphs>199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Times New Roman</vt:lpstr>
      <vt:lpstr>Office Theme</vt:lpstr>
      <vt:lpstr>Dashboard Incident Management (Incident, Problem &amp; SR Patching)</vt:lpstr>
      <vt:lpstr>Draft Mockup – Incident Management</vt:lpstr>
      <vt:lpstr>Draft Mockup – Incident Management</vt:lpstr>
      <vt:lpstr>Incident Communication</vt:lpstr>
      <vt:lpstr>Draft Mockup – Dashboard Incident Management</vt:lpstr>
      <vt:lpstr>Draft OLA (Operation Level Agreement)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Putra Ramadhani</dc:creator>
  <cp:lastModifiedBy>Yokke 33</cp:lastModifiedBy>
  <cp:revision>28</cp:revision>
  <dcterms:created xsi:type="dcterms:W3CDTF">2025-01-20T06:55:09Z</dcterms:created>
  <dcterms:modified xsi:type="dcterms:W3CDTF">2026-05-07T08:49:32Z</dcterms:modified>
</cp:coreProperties>
</file>